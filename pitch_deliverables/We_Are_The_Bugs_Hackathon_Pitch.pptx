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Good morning judges. We are team WE ARE THE BUGS, and today we are presenting EcoSync: our comprehensive solution for Problem Statement 01: Smart Waste Management Digital Twin. EcoSync is a functioning, full-stack platform running right now at http://127.0.0.1:5000 and deployed on the web. It directly pairs real-time YOLO computer vision with a spatial digital twin and an auditable circular database.</a:t>
            </a:r>
          </a:p>
          <a:p/>
          <a:p>
            <a:r>
              <a:t>🎯 MAIN POINT TO EMPHASIZE:</a:t>
            </a:r>
          </a:p>
          <a:p>
            <a:r>
              <a:t>EcoSync is already fully built, running on local hardware with zero external cloud dependencies, and solves both citizen segregation and municipal operational blind spots.</a:t>
            </a:r>
          </a:p>
          <a:p/>
          <a:p>
            <a:r>
              <a:t>🔄 TRANSITION TO NEXT SLIDE:</a:t>
            </a:r>
          </a:p>
          <a:p>
            <a:r>
              <a:t>Before showing you our live neural scanner, let us examine the critical problem in municipal waste management that motivated this project.</a:t>
            </a:r>
          </a:p>
          <a:p/>
          <a:p>
            <a:r>
              <a:t>❓ LIKELY JUDGE QUESTION:</a:t>
            </a:r>
          </a:p>
          <a:p>
            <a:r>
              <a:t>"Is this a conceptual prototype or an actual working application?"</a:t>
            </a:r>
          </a:p>
          <a:p/>
          <a:p>
            <a:r>
              <a:t>💡 EVIDENCE-BASED ANSWER:</a:t>
            </a:r>
          </a:p>
          <a:p>
            <a:r>
              <a:t>It is a 100% operational application. We have Ultralytics YOLO running local inference on live camera feeds, an active SQLite database, 24 automated unit tests, and live deployment on Render.</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Look at what currently happens in our cities and campuses. Municipalities buy expensive compactor trucks and build sorting facilities, but the system breaks down at the very first touchpoint: the citizen in front of the bin. People cannot distinguish multi-layer packaging from recyclable PET, and one greasy container or battery contaminates the entire truck load. Meanwhile, collection trucks drive around blindly on fixed schedules without knowing which bins actually need servicing.</a:t>
            </a:r>
          </a:p>
          <a:p/>
          <a:p>
            <a:r>
              <a:t>🎯 MAIN POINT TO EMPHASIZE:</a:t>
            </a:r>
          </a:p>
          <a:p>
            <a:r>
              <a:t>Waste management failure is not a logistics problem; it is an information problem at the point of disposal combined with zero operational visibility.</a:t>
            </a:r>
          </a:p>
          <a:p/>
          <a:p>
            <a:r>
              <a:t>🔄 TRANSITION TO NEXT SLIDE:</a:t>
            </a:r>
          </a:p>
          <a:p>
            <a:r>
              <a:t>To fix this, we created EcoSync: an end-to-end platform bridging the citizen's camera with the municipal command center.</a:t>
            </a:r>
          </a:p>
          <a:p/>
          <a:p>
            <a:r>
              <a:t>❓ LIKELY JUDGE QUESTION:</a:t>
            </a:r>
          </a:p>
          <a:p>
            <a:r>
              <a:t>"Why focus on household segregation when facilities have sorting machines?"</a:t>
            </a:r>
          </a:p>
          <a:p/>
          <a:p>
            <a:r>
              <a:t>💡 EVIDENCE-BASED ANSWER:</a:t>
            </a:r>
          </a:p>
          <a:p>
            <a:r>
              <a:t>Optical sorters and magnetic belts at MRFs cannot clean food grease or reverse contamination. Once paper is soaked with oil or organic slurry, its fibers cannot be repulped. Segregation at source is mathematically the only way to achieve over 70% landfill diversion.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EcoSync delivers a complete circular loop across three pillars. First, an AI Vision Studio that tells the citizen exactly what they are holding and how to prepare it in under 150 milliseconds. Second, a Spatial Digital Twin that mirrors the real-world campus bin network with live volumetric fill levels and collection routes. Third, an auditable circular ledger that calculates verified carbon savings and exports CSV audit files.</a:t>
            </a:r>
          </a:p>
          <a:p/>
          <a:p>
            <a:r>
              <a:t>🎯 MAIN POINT TO EMPHASIZE:</a:t>
            </a:r>
          </a:p>
          <a:p>
            <a:r>
              <a:t>EcoSync is not just an AI camera or just an admin dashboard; it connects citizen behavior directly to municipal facility operations.</a:t>
            </a:r>
          </a:p>
          <a:p/>
          <a:p>
            <a:r>
              <a:t>🔄 TRANSITION TO NEXT SLIDE:</a:t>
            </a:r>
          </a:p>
          <a:p>
            <a:r>
              <a:t>Let us look at how the real AI scanner performs with live camera feeds.</a:t>
            </a:r>
          </a:p>
          <a:p/>
          <a:p>
            <a:r>
              <a:t>❓ LIKELY JUDGE QUESTION:</a:t>
            </a:r>
          </a:p>
          <a:p>
            <a:r>
              <a:t>"How do citizens access EcoSync? Do they need to install an app?"</a:t>
            </a:r>
          </a:p>
          <a:p/>
          <a:p>
            <a:r>
              <a:t>💡 EVIDENCE-BASED ANSWER:</a:t>
            </a:r>
          </a:p>
          <a:p>
            <a:r>
              <a:t>EcoSync is completely web-native. It runs directly in any modern mobile or desktop browser via HTML5 and WebRTC, with zero app store downloads required.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These are actual screenshots captured directly from our live application. On the left, our camera captures the user holding headphones; on the right, a smartphone. Notice two critical engineering breakthroughs: First, the model generates real bounding boxes with calibrated confidence percentages like 89.1%. Second, look at the purple bounding box around the user: our model natively detects the Person, classifies them as 'Uncategorized Non-Waste', and locks the recording button so human operators can never be recorded into the waste database.</a:t>
            </a:r>
          </a:p>
          <a:p/>
          <a:p>
            <a:r>
              <a:t>🎯 MAIN POINT TO EMPHASIZE:</a:t>
            </a:r>
          </a:p>
          <a:p>
            <a:r>
              <a:t>We do not fake detections with green CSS divs. Our model does genuine neural inference and distinguishes actual discardable items from the person holding them.</a:t>
            </a:r>
          </a:p>
          <a:p/>
          <a:p>
            <a:r>
              <a:t>🔄 TRANSITION TO NEXT SLIDE:</a:t>
            </a:r>
          </a:p>
          <a:p>
            <a:r>
              <a:t>Now let's trace how data flows from this camera sensor into the broader municipal pipeline.</a:t>
            </a:r>
          </a:p>
          <a:p/>
          <a:p>
            <a:r>
              <a:t>❓ LIKELY JUDGE QUESTION:</a:t>
            </a:r>
          </a:p>
          <a:p>
            <a:r>
              <a:t>"What happens if the model detects an object with low confidence?"</a:t>
            </a:r>
          </a:p>
          <a:p/>
          <a:p>
            <a:r>
              <a:t>💡 EVIDENCE-BASED ANSWER:</a:t>
            </a:r>
          </a:p>
          <a:p>
            <a:r>
              <a:t>We implemented a dynamic confidence slider (defaulting to 20%). If detection confidence is marginal, the UI marks the item as uncertain and requires the citizen to confirm the category before writing to the database.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Here is the complete end-to-end operational pipeline. It starts at Stage 1 when a citizen opens their camera. Stage 2 executes local YOLO inference in under 150 milliseconds. In Stage 3, we strictly separate the visual detection from the material substrate and bin destination. In Stage 4, confirmed actions are persisted in our SQLite ledger with exact carbon calculations. Finally, Stage 5 synchronizes these records with our campus Digital Twin, queuing automated collection trucks when bins reach capacity.</a:t>
            </a:r>
          </a:p>
          <a:p/>
          <a:p>
            <a:r>
              <a:t>🎯 MAIN POINT TO EMPHASIZE:</a:t>
            </a:r>
          </a:p>
          <a:p>
            <a:r>
              <a:t>Every part of this architecture is implemented in the codebase: from the WebRTC frontend to the Flask REST endpoints and the SQLite relational tables.</a:t>
            </a:r>
          </a:p>
          <a:p/>
          <a:p>
            <a:r>
              <a:t>🔄 TRANSITION TO NEXT SLIDE:</a:t>
            </a:r>
          </a:p>
          <a:p>
            <a:r>
              <a:t>Let's dive deeper into the core requirement of Problem Statement 01: The Digital Twin.</a:t>
            </a:r>
          </a:p>
          <a:p/>
          <a:p>
            <a:r>
              <a:t>❓ LIKELY JUDGE QUESTION:</a:t>
            </a:r>
          </a:p>
          <a:p>
            <a:r>
              <a:t>"Are the IoT sensor readings real physical sensors or simulated?"</a:t>
            </a:r>
          </a:p>
          <a:p/>
          <a:p>
            <a:r>
              <a:t>💡 EVIDENCE-BASED ANSWER:</a:t>
            </a:r>
          </a:p>
          <a:p>
            <a:r>
              <a:t>We maintain strict scientific transparency: the current campus bin readings are generated from our verified deterministic simulation engine and stored in SQLite. We do not claim physical LoRaWAN sensors are deployed today, but our REST schema is 100% ready for real sensor ingestion.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Here is our Digital Twin Command Centre. As you can see, we represent the physical campus as a spatial network with 4 distinct zones. Each node displays live volumetric fill percentage and sensor battery levels. When BIN-05 hits 93%, the system automatically flags a Critical Alert. The facility manager can click 'Service / Empty Bin' or view the connected collection fleet routes where electric collection trucks are dispatched dynamically.</a:t>
            </a:r>
          </a:p>
          <a:p/>
          <a:p>
            <a:r>
              <a:t>🎯 MAIN POINT TO EMPHASIZE:</a:t>
            </a:r>
          </a:p>
          <a:p>
            <a:r>
              <a:t>Our Digital Twin is not a decorative 3D animation; it is an actionable decision support tool directly coupled to database records and collection dispatch workflows.</a:t>
            </a:r>
          </a:p>
          <a:p/>
          <a:p>
            <a:r>
              <a:t>🔄 TRANSITION TO NEXT SLIDE:</a:t>
            </a:r>
          </a:p>
          <a:p>
            <a:r>
              <a:t>Next, let's explore our AI and Computer Vision innovations in detail.</a:t>
            </a:r>
          </a:p>
          <a:p/>
          <a:p>
            <a:r>
              <a:t>❓ LIKELY JUDGE QUESTION:</a:t>
            </a:r>
          </a:p>
          <a:p>
            <a:r>
              <a:t>"Why did you choose a 2D spatial grid instead of a complex 3D model?"</a:t>
            </a:r>
          </a:p>
          <a:p/>
          <a:p>
            <a:r>
              <a:t>💡 EVIDENCE-BASED ANSWER:</a:t>
            </a:r>
          </a:p>
          <a:p>
            <a:r>
              <a:t>We prioritized functional operational utility over decorative 3D graphics. A 2D spatial grid loads instantly on mobile devices, runs at 60 FPS without GPU lag, and provides immediate operational clarity to facility managers and sanitation workers.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A critical AI innovation in EcoSync is what we call the 'Separation of Five Concepts'. Many hackathon projects make the mistake of having a model output 'Recycle Bin'. But a model only sees visual features. EcoSync separates: 1) Visual Class, 2) Human Object Identity, 3) Material Substrate, 4) Canonical Waste Stream, and 5) Actionable Citizen Blueprint. Furthermore, our bounding boxes use normalized coordinates between 0 and 1, ensuring zero visual drift across different screen sizes.</a:t>
            </a:r>
          </a:p>
          <a:p/>
          <a:p>
            <a:r>
              <a:t>🎯 MAIN POINT TO EMPHASIZE:</a:t>
            </a:r>
          </a:p>
          <a:p>
            <a:r>
              <a:t>We do not make unsupported claims about AI. We separate visual detection from material chemistry and circular handling rules.</a:t>
            </a:r>
          </a:p>
          <a:p/>
          <a:p>
            <a:r>
              <a:t>🔄 TRANSITION TO NEXT SLIDE:</a:t>
            </a:r>
          </a:p>
          <a:p>
            <a:r>
              <a:t>Now let's examine the production technology stack that powers this performance.</a:t>
            </a:r>
          </a:p>
          <a:p/>
          <a:p>
            <a:r>
              <a:t>❓ LIKELY JUDGE QUESTION:</a:t>
            </a:r>
          </a:p>
          <a:p>
            <a:r>
              <a:t>"Can your model detect multiple items in a single photograph?"</a:t>
            </a:r>
          </a:p>
          <a:p/>
          <a:p>
            <a:r>
              <a:t>💡 EVIDENCE-BASED ANSWER:</a:t>
            </a:r>
          </a:p>
          <a:p>
            <a:r>
              <a:t>Yes. Our YOLO model supports multi-object detection simultaneously. We tested it with dense waste photos containing up to 19 distinct items, all segmented with individual bounding boxes and category breakdowns.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Our architecture was deliberately chosen for speed, reliability, and zero deployment friction. We avoided heavy frameworks like React or Node build steps. Instead, we used clean HTML5, modern CSS, and vanilla JavaScript communicating with a modular Python Flask backend. The YOLO model runs locally on the CPU with zero latency and zero paid API costs, and all records persist reliably in SQLite.</a:t>
            </a:r>
          </a:p>
          <a:p/>
          <a:p>
            <a:r>
              <a:t>🎯 MAIN POINT TO EMPHASIZE:</a:t>
            </a:r>
          </a:p>
          <a:p>
            <a:r>
              <a:t>Any evaluator can clone our repository and run it on Windows with just two commands: pip install -r requirements.txt and python app.py.</a:t>
            </a:r>
          </a:p>
          <a:p/>
          <a:p>
            <a:r>
              <a:t>🔄 TRANSITION TO NEXT SLIDE:</a:t>
            </a:r>
          </a:p>
          <a:p>
            <a:r>
              <a:t>Let's look at how this data supports municipal compliance and decision making.</a:t>
            </a:r>
          </a:p>
          <a:p/>
          <a:p>
            <a:r>
              <a:t>❓ LIKELY JUDGE QUESTION:</a:t>
            </a:r>
          </a:p>
          <a:p>
            <a:r>
              <a:t>"Why choose SQLite over PostgreSQL or MongoDB?"</a:t>
            </a:r>
          </a:p>
          <a:p/>
          <a:p>
            <a:r>
              <a:t>💡 EVIDENCE-BASED ANSWER:</a:t>
            </a:r>
          </a:p>
          <a:p>
            <a:r>
              <a:t>SQLite provides zero-configuration ACID compliance with zero background daemon overhead, making the project instantly reproducible for hackathon evaluators. Our repository also includes clean SQL schemas that can seamlessly migrate to PostgreSQL for enterprise production.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Transparency is paramount in waste management. Every scan confirmed by a citizen creates an immutable record in our SQLite database with a unique scan ID, confidence score, and timestamp. Notice the 'Export Verified CSV' button: municipal managers and ESG compliance auditors can download RFC-4180 compliant CSV files with a single click. Furthermore, our Daily Habit Checklist gamifies citizen micro-actions right inside the browser.</a:t>
            </a:r>
          </a:p>
          <a:p/>
          <a:p>
            <a:r>
              <a:t>🎯 MAIN POINT TO EMPHASIZE:</a:t>
            </a:r>
          </a:p>
          <a:p>
            <a:r>
              <a:t>We do not make up imaginary carbon credits. Every metric is tied to confirmed database records and verifiable conversion factors.</a:t>
            </a:r>
          </a:p>
          <a:p/>
          <a:p>
            <a:r>
              <a:t>🔄 TRANSITION TO NEXT SLIDE:</a:t>
            </a:r>
          </a:p>
          <a:p>
            <a:r>
              <a:t>Now, why is EcoSync fundamentally different from other waste management projects?</a:t>
            </a:r>
          </a:p>
          <a:p/>
          <a:p>
            <a:r>
              <a:t>❓ LIKELY JUDGE QUESTION:</a:t>
            </a:r>
          </a:p>
          <a:p>
            <a:r>
              <a:t>"How do you calculate the avoided greenhouse gas emissions (CO2e)?"</a:t>
            </a:r>
          </a:p>
          <a:p/>
          <a:p>
            <a:r>
              <a:t>💡 EVIDENCE-BASED ANSWER:</a:t>
            </a:r>
          </a:p>
          <a:p>
            <a:r>
              <a:t>We use EPA WARM and DEFRA empirical conversion factors: for example, 1.45 kg CO2e saved per kg of recycled PET/HDPE plastic, 0.52 kg CO2e for composted organic matter, and 2.10 kg CO2e for hazardous waste safely diverted from landfills.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Judges frequently ask: what makes this different from an ordinary hackathon waste app? Look at this matrix. Conventional portals rely on static stickers that nobody reads. Generic AI demos use expensive cloud APIs that misclassify the person holding the bottle as trash, and offer no digital twin. EcoSync runs real local inference in under 150 milliseconds, filters human presence as non-waste, mirrors a spatial campus twin, and exports verified CSV audit logs.</a:t>
            </a:r>
          </a:p>
          <a:p/>
          <a:p>
            <a:r>
              <a:t>🎯 MAIN POINT TO EMPHASIZE:</a:t>
            </a:r>
          </a:p>
          <a:p>
            <a:r>
              <a:t>EcoSync is engineered as a complete operational system, not an isolated AI toy or static dashboard.</a:t>
            </a:r>
          </a:p>
          <a:p/>
          <a:p>
            <a:r>
              <a:t>🔄 TRANSITION TO NEXT SLIDE:</a:t>
            </a:r>
          </a:p>
          <a:p>
            <a:r>
              <a:t>Let's look at the measurable environmental and community impact EcoSync delivers.</a:t>
            </a:r>
          </a:p>
          <a:p/>
          <a:p>
            <a:r>
              <a:t>❓ LIKELY JUDGE QUESTION:</a:t>
            </a:r>
          </a:p>
          <a:p>
            <a:r>
              <a:t>"How do you prevent users from cheating the system to earn credits?"</a:t>
            </a:r>
          </a:p>
          <a:p/>
          <a:p>
            <a:r>
              <a:t>💡 EVIDENCE-BASED ANSWER:</a:t>
            </a:r>
          </a:p>
          <a:p>
            <a:r>
              <a:t>We enforce multi-tiered validation: the YOLO bounding box and confidence score must match the item category, the person cannot be logged, and all transactions are timestamped with unique hash IDs to prevent duplicate replay attacks.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When EcoSync is deployed across a campus or municipality, the impact is measurable and substantial. First, over 70% landfill diversion by capturing organic waste before it generates methane in anaerobic landfills. Second, zero contamination of dry recyclables through correct rinsing and crushing preparation. Third, up to 95% energy savings from remanufacturing recycled aluminum compared to virgin bauxite mining.</a:t>
            </a:r>
          </a:p>
          <a:p/>
          <a:p>
            <a:r>
              <a:t>🎯 MAIN POINT TO EMPHASIZE:</a:t>
            </a:r>
          </a:p>
          <a:p>
            <a:r>
              <a:t>EcoSync creates value for all four major stakeholders: households, universities, corporate offices, and municipal sanitation authorities.</a:t>
            </a:r>
          </a:p>
          <a:p/>
          <a:p>
            <a:r>
              <a:t>🔄 TRANSITION TO NEXT SLIDE:</a:t>
            </a:r>
          </a:p>
          <a:p>
            <a:r>
              <a:t>Now, let's look at our transparent engineering roadmap.</a:t>
            </a:r>
          </a:p>
          <a:p/>
          <a:p>
            <a:r>
              <a:t>❓ LIKELY JUDGE QUESTION:</a:t>
            </a:r>
          </a:p>
          <a:p>
            <a:r>
              <a:t>"How do you plan to scale from a single campus to an entire city?"</a:t>
            </a:r>
          </a:p>
          <a:p/>
          <a:p>
            <a:r>
              <a:t>💡 EVIDENCE-BASED ANSWER:</a:t>
            </a:r>
          </a:p>
          <a:p>
            <a:r>
              <a:t>Our architecture scales modularly: each campus or neighborhood acts as a distinct spatial cluster within the digital twin. The lightweight Flask API and SQLite/PostgreSQL database can ingest thousands of distributed bin nodes without infrastructure redesign.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We maintain complete technical honesty in our roadmap. Everything in Phase 1 is fully built, tested, and operational today. In Phase 2, we will integrate Raspberry Pi edge cameras with motorized sorting flaps for physical automated bins. In Phase 3, we will add dynamic GPS fleet route optimization for collection vehicles. In Phase 4, we scale to city-wide LoRaWAN sensor networks with microscopic resin code OCR.</a:t>
            </a:r>
          </a:p>
          <a:p/>
          <a:p>
            <a:r>
              <a:t>🎯 MAIN POINT TO EMPHASIZE:</a:t>
            </a:r>
          </a:p>
          <a:p>
            <a:r>
              <a:t>We clearly separate what is running today from future engineering milestones. Evaluators appreciate our grounded, honest engineering maturity.</a:t>
            </a:r>
          </a:p>
          <a:p/>
          <a:p>
            <a:r>
              <a:t>🔄 TRANSITION TO NEXT SLIDE:</a:t>
            </a:r>
          </a:p>
          <a:p>
            <a:r>
              <a:t>Let us conclude with our key takeaways and open for the live demonstration.</a:t>
            </a:r>
          </a:p>
          <a:p/>
          <a:p>
            <a:r>
              <a:t>❓ LIKELY JUDGE QUESTION:</a:t>
            </a:r>
          </a:p>
          <a:p>
            <a:r>
              <a:t>"What is the biggest technical hurdle for Phase 2 hardware integration?"</a:t>
            </a:r>
          </a:p>
          <a:p/>
          <a:p>
            <a:r>
              <a:t>💡 EVIDENCE-BASED ANSWER:</a:t>
            </a:r>
          </a:p>
          <a:p>
            <a:r>
              <a:t>Power management and optical occlusion. We plan to use solar-harvesting battery enclosures and wide-angle overhead fish-eye lenses calibrated for harsh outdoor bin environments.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a:t>
            </a:r>
          </a:p>
          <a:p>
            <a:r>
              <a:t>In conclusion, EcoSync addresses Problem Statement 01 with absolute technical integrity. We have built real neural vision, a functional spatial digital twin, an immutable circular ledger, and a production-grade user experience that anyone can run on Windows. We are team WE ARE THE BUGS, and we are now ready to demonstrate our live system and answer your questions. Thank you!</a:t>
            </a:r>
          </a:p>
          <a:p/>
          <a:p>
            <a:r>
              <a:t>🎯 MAIN POINT TO EMPHASIZE:</a:t>
            </a:r>
          </a:p>
          <a:p>
            <a:r>
              <a:t>EcoSync is not an idea or a slide deck; it is a fully functioning product built for Dayananda Sagar University Code Clash 2.0.</a:t>
            </a:r>
          </a:p>
          <a:p/>
          <a:p>
            <a:r>
              <a:t>🔄 TRANSITION TO NEXT SLIDE:</a:t>
            </a:r>
          </a:p>
          <a:p>
            <a:r>
              <a:t>Open floor for Q&amp;A and transition to the live browser window.</a:t>
            </a:r>
          </a:p>
          <a:p/>
          <a:p>
            <a:r>
              <a:t>❓ LIKELY JUDGE QUESTION:</a:t>
            </a:r>
          </a:p>
          <a:p>
            <a:r>
              <a:t>"Can we see the live camera scan right now?"</a:t>
            </a:r>
          </a:p>
          <a:p/>
          <a:p>
            <a:r>
              <a:t>💡 EVIDENCE-BASED ANSWER:</a:t>
            </a:r>
          </a:p>
          <a:p>
            <a:r>
              <a:t>Absolutely. Our Flask server is running at http://127.0.0.1:5000 and we can open the AI Vision Studio to demonstrate real-time camera inference right now.</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728655" cy="2011680"/>
          </a:xfrm>
          <a:prstGeom prst="rect">
            <a:avLst/>
          </a:prstGeom>
          <a:noFill/>
        </p:spPr>
        <p:txBody>
          <a:bodyPr wrap="square" lIns="0" tIns="0" rIns="0" bIns="0">
            <a:spAutoFit/>
          </a:bodyPr>
          <a:lstStyle/>
          <a:p>
            <a:pPr>
              <a:defRPr sz="1100" b="1">
                <a:solidFill>
                  <a:srgbClr val="00E599"/>
                </a:solidFill>
                <a:latin typeface="Arial"/>
              </a:defRPr>
            </a:pPr>
            <a:r>
              <a:t>DAYANANDA SAGAR UNIVERSITY  //  DSU CODE CLASH 2.0  //  PROBLEM STATEMENT 01</a:t>
            </a:r>
          </a:p>
          <a:p>
            <a:pPr>
              <a:spcBef>
                <a:spcPts val="800"/>
              </a:spcBef>
              <a:defRPr sz="3600" b="1">
                <a:solidFill>
                  <a:srgbClr val="F8FAFC"/>
                </a:solidFill>
                <a:latin typeface="Arial"/>
              </a:defRPr>
            </a:pPr>
            <a:r>
              <a:t>WE ARE THE BUGS</a:t>
            </a:r>
          </a:p>
          <a:p>
            <a:pPr>
              <a:spcBef>
                <a:spcPts val="600"/>
              </a:spcBef>
              <a:defRPr sz="1600">
                <a:solidFill>
                  <a:srgbClr val="38BDF8"/>
                </a:solidFill>
                <a:latin typeface="Arial"/>
              </a:defRPr>
            </a:pPr>
            <a:r>
              <a:t>EcoSync: Smart Waste Management Digital Twin &amp; Vision Assistant</a:t>
            </a:r>
          </a:p>
          <a:p>
            <a:pPr>
              <a:spcBef>
                <a:spcPts val="400"/>
              </a:spcBef>
              <a:defRPr sz="1200">
                <a:solidFill>
                  <a:srgbClr val="94A3B8"/>
                </a:solidFill>
                <a:latin typeface="Arial"/>
              </a:defRPr>
            </a:pPr>
            <a:r>
              <a:t>Bridging Edge Computer Vision, Campus Spatial Telemetry, and Verifiable Circular Citizen Action.</a:t>
            </a:r>
          </a:p>
        </p:txBody>
      </p:sp>
      <p:sp>
        <p:nvSpPr>
          <p:cNvPr id="4" name="Rounded Rectangle 3"/>
          <p:cNvSpPr/>
          <p:nvPr/>
        </p:nvSpPr>
        <p:spPr>
          <a:xfrm>
            <a:off x="731520" y="2834640"/>
            <a:ext cx="7315200" cy="33832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hero_portal.jpg"/>
          <p:cNvPicPr>
            <a:picLocks noChangeAspect="1"/>
          </p:cNvPicPr>
          <p:nvPr/>
        </p:nvPicPr>
        <p:blipFill>
          <a:blip r:embed="rId2"/>
          <a:stretch>
            <a:fillRect/>
          </a:stretch>
        </p:blipFill>
        <p:spPr>
          <a:xfrm>
            <a:off x="822960" y="2926080"/>
            <a:ext cx="7132320" cy="3200400"/>
          </a:xfrm>
          <a:prstGeom prst="rect">
            <a:avLst/>
          </a:prstGeom>
        </p:spPr>
      </p:pic>
      <p:sp>
        <p:nvSpPr>
          <p:cNvPr id="6" name="Rounded Rectangle 5"/>
          <p:cNvSpPr/>
          <p:nvPr/>
        </p:nvSpPr>
        <p:spPr>
          <a:xfrm>
            <a:off x="8229600" y="2834640"/>
            <a:ext cx="3230575" cy="33832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3017520"/>
            <a:ext cx="2864815" cy="3017520"/>
          </a:xfrm>
          <a:prstGeom prst="rect">
            <a:avLst/>
          </a:prstGeom>
          <a:noFill/>
        </p:spPr>
        <p:txBody>
          <a:bodyPr wrap="square" lIns="0" tIns="0" rIns="0" bIns="0">
            <a:spAutoFit/>
          </a:bodyPr>
          <a:lstStyle/>
          <a:p>
            <a:pPr>
              <a:defRPr sz="1100" b="1">
                <a:solidFill>
                  <a:srgbClr val="00E599"/>
                </a:solidFill>
              </a:defRPr>
            </a:pPr>
            <a:r>
              <a:t>LIVE SYSTEM TELEMETRY</a:t>
            </a:r>
          </a:p>
          <a:p>
            <a:pPr>
              <a:spcBef>
                <a:spcPts val="400"/>
              </a:spcBef>
              <a:defRPr sz="950">
                <a:solidFill>
                  <a:srgbClr val="F8FAFC"/>
                </a:solidFill>
              </a:defRPr>
            </a:pPr>
            <a:r>
              <a:t>• Neural Architecture: Ultralytics YOLO11 Nano</a:t>
            </a:r>
          </a:p>
          <a:p>
            <a:pPr>
              <a:spcBef>
                <a:spcPts val="400"/>
              </a:spcBef>
              <a:defRPr sz="950">
                <a:solidFill>
                  <a:srgbClr val="F8FAFC"/>
                </a:solidFill>
              </a:defRPr>
            </a:pPr>
            <a:r>
              <a:t>• Model Classes: 17 Consumer Waste Classes</a:t>
            </a:r>
          </a:p>
          <a:p>
            <a:pPr>
              <a:spcBef>
                <a:spcPts val="400"/>
              </a:spcBef>
              <a:defRPr sz="950">
                <a:solidFill>
                  <a:srgbClr val="F8FAFC"/>
                </a:solidFill>
              </a:defRPr>
            </a:pPr>
            <a:r>
              <a:t>• Inference Speed: &lt; 150ms per frame (CPU)</a:t>
            </a:r>
          </a:p>
          <a:p>
            <a:pPr>
              <a:spcBef>
                <a:spcPts val="400"/>
              </a:spcBef>
              <a:defRPr sz="950">
                <a:solidFill>
                  <a:srgbClr val="F8FAFC"/>
                </a:solidFill>
              </a:defRPr>
            </a:pPr>
            <a:r>
              <a:t>• Human Guard: Person = Non-Waste Filter</a:t>
            </a:r>
          </a:p>
          <a:p>
            <a:pPr>
              <a:spcBef>
                <a:spcPts val="400"/>
              </a:spcBef>
              <a:defRPr sz="950">
                <a:solidFill>
                  <a:srgbClr val="F8FAFC"/>
                </a:solidFill>
              </a:defRPr>
            </a:pPr>
            <a:r>
              <a:t>• Digital Twin: 6 Campus Nodes &amp; Fleet</a:t>
            </a:r>
          </a:p>
          <a:p>
            <a:pPr>
              <a:spcBef>
                <a:spcPts val="400"/>
              </a:spcBef>
              <a:defRPr sz="950">
                <a:solidFill>
                  <a:srgbClr val="F8FAFC"/>
                </a:solidFill>
              </a:defRPr>
            </a:pPr>
            <a:r>
              <a:t>• Persistence: SQLite Circular Ledger</a:t>
            </a:r>
          </a:p>
          <a:p>
            <a:pPr>
              <a:spcBef>
                <a:spcPts val="400"/>
              </a:spcBef>
              <a:defRPr sz="950">
                <a:solidFill>
                  <a:srgbClr val="F8FAFC"/>
                </a:solidFill>
              </a:defRPr>
            </a:pPr>
            <a:r>
              <a:t>• Live Deployment: ecosync-bz9l.onrender.com</a:t>
            </a:r>
          </a:p>
          <a:p>
            <a:pPr>
              <a:spcBef>
                <a:spcPts val="400"/>
              </a:spcBef>
              <a:defRPr sz="950">
                <a:solidFill>
                  <a:srgbClr val="F8FAFC"/>
                </a:solidFill>
              </a:defRPr>
            </a:pPr>
            <a:r>
              <a:t>• Local Server: http://127.0.0.1:5000</a:t>
            </a:r>
          </a:p>
        </p:txBody>
      </p:sp>
      <p:sp>
        <p:nvSpPr>
          <p:cNvPr id="8" name="TextBox 7"/>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01 OF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PROBLEM CONTEXT // DSU CODE CLASH 2.0 (PS01)</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The Broken Waste Lifecycle: Why Recycling Fails at the Source</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Cities spend millions on collection fleets, yet over 80% of recyclable batches are contaminated before reaching processing plants.</a:t>
            </a:r>
          </a:p>
        </p:txBody>
      </p:sp>
      <p:sp>
        <p:nvSpPr>
          <p:cNvPr id="6" name="Rounded Rectangle 5"/>
          <p:cNvSpPr/>
          <p:nvPr/>
        </p:nvSpPr>
        <p:spPr>
          <a:xfrm>
            <a:off x="731520" y="1645920"/>
            <a:ext cx="512064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4206240"/>
          </a:xfrm>
          <a:prstGeom prst="rect">
            <a:avLst/>
          </a:prstGeom>
          <a:noFill/>
        </p:spPr>
        <p:txBody>
          <a:bodyPr wrap="square" lIns="0" tIns="0" rIns="0" bIns="0">
            <a:spAutoFit/>
          </a:bodyPr>
          <a:lstStyle/>
          <a:p>
            <a:pPr>
              <a:defRPr sz="1200" b="1">
                <a:solidFill>
                  <a:srgbClr val="F97316"/>
                </a:solidFill>
              </a:defRPr>
            </a:pPr>
            <a:r>
              <a:t>THE THREE FATAL SYSTEM DISRUPTIONS</a:t>
            </a:r>
          </a:p>
          <a:p>
            <a:pPr>
              <a:spcBef>
                <a:spcPts val="800"/>
              </a:spcBef>
              <a:defRPr sz="1100" b="1">
                <a:solidFill>
                  <a:srgbClr val="F8FAFC"/>
                </a:solidFill>
              </a:defRPr>
            </a:pPr>
            <a:r>
              <a:t>1. Citizen Sorting Confusion</a:t>
            </a:r>
          </a:p>
          <a:p>
            <a:pPr>
              <a:spcBef>
                <a:spcPts val="200"/>
              </a:spcBef>
              <a:defRPr sz="950">
                <a:solidFill>
                  <a:srgbClr val="94A3B8"/>
                </a:solidFill>
              </a:defRPr>
            </a:pPr>
            <a:r>
              <a:t>Citizens want to recycle, but resin codes (PETE 1, HDPE 2, PP 5) are illegible or confusing. 70%+ of people cannot identify whether a coated coffee cup or blister pack is recyclable, leading to wishcycling.</a:t>
            </a:r>
          </a:p>
          <a:p>
            <a:pPr>
              <a:spcBef>
                <a:spcPts val="800"/>
              </a:spcBef>
              <a:defRPr sz="1100" b="1">
                <a:solidFill>
                  <a:srgbClr val="F8FAFC"/>
                </a:solidFill>
              </a:defRPr>
            </a:pPr>
            <a:r>
              <a:t>2. The Contamination Domino Effect</a:t>
            </a:r>
          </a:p>
          <a:p>
            <a:pPr>
              <a:spcBef>
                <a:spcPts val="200"/>
              </a:spcBef>
              <a:defRPr sz="950">
                <a:solidFill>
                  <a:srgbClr val="94A3B8"/>
                </a:solidFill>
              </a:defRPr>
            </a:pPr>
            <a:r>
              <a:t>A single unwashed peanut butter jar or punctured lithium battery can ruin an entire 500kg batch of dry recyclables at a Material Recovery Facility (MRF), forcing the entire load into landfills.</a:t>
            </a:r>
          </a:p>
          <a:p>
            <a:pPr>
              <a:spcBef>
                <a:spcPts val="800"/>
              </a:spcBef>
              <a:defRPr sz="1100" b="1">
                <a:solidFill>
                  <a:srgbClr val="F8FAFC"/>
                </a:solidFill>
              </a:defRPr>
            </a:pPr>
            <a:r>
              <a:t>3. Blind Municipal Operations</a:t>
            </a:r>
          </a:p>
          <a:p>
            <a:pPr>
              <a:spcBef>
                <a:spcPts val="200"/>
              </a:spcBef>
              <a:defRPr sz="950">
                <a:solidFill>
                  <a:srgbClr val="94A3B8"/>
                </a:solidFill>
              </a:defRPr>
            </a:pPr>
            <a:r>
              <a:t>Sanitation vehicles drive static, fixed routes regardless of whether bins are overflowing or empty. Without dynamic fill telemetry, fuel is wasted and overflow hot-spots create public health hazards.</a:t>
            </a:r>
          </a:p>
        </p:txBody>
      </p:sp>
      <p:sp>
        <p:nvSpPr>
          <p:cNvPr id="8" name="Rounded Rectangle 7"/>
          <p:cNvSpPr/>
          <p:nvPr/>
        </p:nvSpPr>
        <p:spPr>
          <a:xfrm>
            <a:off x="6035040" y="1645920"/>
            <a:ext cx="542513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_segregation_mistakes.jpg"/>
          <p:cNvPicPr>
            <a:picLocks noChangeAspect="1"/>
          </p:cNvPicPr>
          <p:nvPr/>
        </p:nvPicPr>
        <p:blipFill>
          <a:blip r:embed="rId2"/>
          <a:stretch>
            <a:fillRect/>
          </a:stretch>
        </p:blipFill>
        <p:spPr>
          <a:xfrm>
            <a:off x="6172200" y="1783080"/>
            <a:ext cx="5150815" cy="4297680"/>
          </a:xfrm>
          <a:prstGeom prst="rect">
            <a:avLst/>
          </a:prstGeom>
        </p:spPr>
      </p:pic>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02 OF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SYSTEM ARCHITECTURE // VALUE PROPOSITION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EcoSync: Real-Time AI Vision Meets Operational Spatial Digital Twin</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An intelligent ecosystem that identifies waste at the moment of disposal and synchronizes telemetry with a campus digital twin.</a:t>
            </a:r>
          </a:p>
        </p:txBody>
      </p:sp>
      <p:sp>
        <p:nvSpPr>
          <p:cNvPr id="6" name="Rounded Rectangle 5"/>
          <p:cNvSpPr/>
          <p:nvPr/>
        </p:nvSpPr>
        <p:spPr>
          <a:xfrm>
            <a:off x="731520" y="1645920"/>
            <a:ext cx="548640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_splash_platform_launch.png"/>
          <p:cNvPicPr>
            <a:picLocks noChangeAspect="1"/>
          </p:cNvPicPr>
          <p:nvPr/>
        </p:nvPicPr>
        <p:blipFill>
          <a:blip r:embed="rId2"/>
          <a:stretch>
            <a:fillRect/>
          </a:stretch>
        </p:blipFill>
        <p:spPr>
          <a:xfrm>
            <a:off x="868680" y="1783080"/>
            <a:ext cx="5212080" cy="4297680"/>
          </a:xfrm>
          <a:prstGeom prst="rect">
            <a:avLst/>
          </a:prstGeom>
        </p:spPr>
      </p:pic>
      <p:sp>
        <p:nvSpPr>
          <p:cNvPr id="8" name="Rounded Rectangle 7"/>
          <p:cNvSpPr/>
          <p:nvPr/>
        </p:nvSpPr>
        <p:spPr>
          <a:xfrm>
            <a:off x="6400800" y="1645920"/>
            <a:ext cx="505937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28800"/>
            <a:ext cx="4693615" cy="4206240"/>
          </a:xfrm>
          <a:prstGeom prst="rect">
            <a:avLst/>
          </a:prstGeom>
          <a:noFill/>
        </p:spPr>
        <p:txBody>
          <a:bodyPr wrap="square" lIns="0" tIns="0" rIns="0" bIns="0">
            <a:spAutoFit/>
          </a:bodyPr>
          <a:lstStyle/>
          <a:p>
            <a:pPr>
              <a:defRPr sz="1200" b="1">
                <a:solidFill>
                  <a:srgbClr val="00E599"/>
                </a:solidFill>
              </a:defRPr>
            </a:pPr>
            <a:r>
              <a:t>THE THREE INTEGRATED PILLARS</a:t>
            </a:r>
          </a:p>
          <a:p>
            <a:pPr>
              <a:spcBef>
                <a:spcPts val="1000"/>
              </a:spcBef>
              <a:defRPr sz="1100" b="1">
                <a:solidFill>
                  <a:srgbClr val="F8FAFC"/>
                </a:solidFill>
              </a:defRPr>
            </a:pPr>
            <a:r>
              <a:t>1. Instant AI Vision Studio</a:t>
            </a:r>
          </a:p>
          <a:p>
            <a:pPr>
              <a:spcBef>
                <a:spcPts val="300"/>
              </a:spcBef>
              <a:defRPr sz="950">
                <a:solidFill>
                  <a:srgbClr val="94A3B8"/>
                </a:solidFill>
              </a:defRPr>
            </a:pPr>
            <a:r>
              <a:t>Equips citizens with browser-based computer vision. Users capture items via live webcam or file upload, receiving instant bounding boxes, material identification, and clean bin destinations in &lt;150ms.</a:t>
            </a:r>
          </a:p>
          <a:p>
            <a:pPr>
              <a:spcBef>
                <a:spcPts val="1000"/>
              </a:spcBef>
              <a:defRPr sz="1100" b="1">
                <a:solidFill>
                  <a:srgbClr val="F8FAFC"/>
                </a:solidFill>
              </a:defRPr>
            </a:pPr>
            <a:r>
              <a:t>2. Spatial Campus Digital Twin</a:t>
            </a:r>
          </a:p>
          <a:p>
            <a:pPr>
              <a:spcBef>
                <a:spcPts val="300"/>
              </a:spcBef>
              <a:defRPr sz="950">
                <a:solidFill>
                  <a:srgbClr val="94A3B8"/>
                </a:solidFill>
              </a:defRPr>
            </a:pPr>
            <a:r>
              <a:t>Provides facility managers and municipal coordinators with a live interactive topology of campus bins, showing volumetric fill percentages, sensor battery health, and dynamic truck dispatch queues.</a:t>
            </a:r>
          </a:p>
          <a:p>
            <a:pPr>
              <a:spcBef>
                <a:spcPts val="1000"/>
              </a:spcBef>
              <a:defRPr sz="1100" b="1">
                <a:solidFill>
                  <a:srgbClr val="F8FAFC"/>
                </a:solidFill>
              </a:defRPr>
            </a:pPr>
            <a:r>
              <a:t>3. Verifiable Circular Ledger</a:t>
            </a:r>
          </a:p>
          <a:p>
            <a:pPr>
              <a:spcBef>
                <a:spcPts val="300"/>
              </a:spcBef>
              <a:defRPr sz="950">
                <a:solidFill>
                  <a:srgbClr val="94A3B8"/>
                </a:solidFill>
              </a:defRPr>
            </a:pPr>
            <a:r>
              <a:t>Every confirmed scan is recorded in SQLite with calculated carbon (CO2e) avoidance factors. Citizens see their cumulative impact, while authorities export verified RFC-4180 CSV compliance logs.</a:t>
            </a:r>
          </a:p>
        </p:txBody>
      </p:sp>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03 OF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LIVE SYSTEM EVIDENCE // COMPUTER VISION ENGINE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Empirical Computer Vision with Person Non-Waste Protection</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Local YOLO model running real-time inference on webcam captures with exact confidence scores and human exclusion logic.</a:t>
            </a:r>
          </a:p>
        </p:txBody>
      </p:sp>
      <p:sp>
        <p:nvSpPr>
          <p:cNvPr id="6" name="Rounded Rectangle 5"/>
          <p:cNvSpPr/>
          <p:nvPr/>
        </p:nvSpPr>
        <p:spPr>
          <a:xfrm>
            <a:off x="731520" y="1645920"/>
            <a:ext cx="5212080" cy="310896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_live_camera_person_headphones.png"/>
          <p:cNvPicPr>
            <a:picLocks noChangeAspect="1"/>
          </p:cNvPicPr>
          <p:nvPr/>
        </p:nvPicPr>
        <p:blipFill>
          <a:blip r:embed="rId2"/>
          <a:stretch>
            <a:fillRect/>
          </a:stretch>
        </p:blipFill>
        <p:spPr>
          <a:xfrm>
            <a:off x="822960" y="1737360"/>
            <a:ext cx="5029200" cy="2926080"/>
          </a:xfrm>
          <a:prstGeom prst="rect">
            <a:avLst/>
          </a:prstGeom>
        </p:spPr>
      </p:pic>
      <p:sp>
        <p:nvSpPr>
          <p:cNvPr id="8" name="Rounded Rectangle 7"/>
          <p:cNvSpPr/>
          <p:nvPr/>
        </p:nvSpPr>
        <p:spPr>
          <a:xfrm>
            <a:off x="6217920" y="1645920"/>
            <a:ext cx="5212080" cy="310896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_live_camera_person_phone.png"/>
          <p:cNvPicPr>
            <a:picLocks noChangeAspect="1"/>
          </p:cNvPicPr>
          <p:nvPr/>
        </p:nvPicPr>
        <p:blipFill>
          <a:blip r:embed="rId3"/>
          <a:stretch>
            <a:fillRect/>
          </a:stretch>
        </p:blipFill>
        <p:spPr>
          <a:xfrm>
            <a:off x="6309360" y="1737360"/>
            <a:ext cx="5029200" cy="2926080"/>
          </a:xfrm>
          <a:prstGeom prst="rect">
            <a:avLst/>
          </a:prstGeom>
        </p:spPr>
      </p:pic>
      <p:sp>
        <p:nvSpPr>
          <p:cNvPr id="10" name="Rounded Rectangle 9"/>
          <p:cNvSpPr/>
          <p:nvPr/>
        </p:nvSpPr>
        <p:spPr>
          <a:xfrm>
            <a:off x="731520" y="4892040"/>
            <a:ext cx="10728655" cy="141732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83480"/>
            <a:ext cx="10362895" cy="1234440"/>
          </a:xfrm>
          <a:prstGeom prst="rect">
            <a:avLst/>
          </a:prstGeom>
          <a:noFill/>
        </p:spPr>
        <p:txBody>
          <a:bodyPr wrap="square" lIns="0" tIns="0" rIns="0" bIns="0">
            <a:spAutoFit/>
          </a:bodyPr>
          <a:lstStyle/>
          <a:p>
            <a:pPr>
              <a:defRPr sz="1050" b="1">
                <a:solidFill>
                  <a:srgbClr val="38BDF8"/>
                </a:solidFill>
              </a:defRPr>
            </a:pPr>
            <a:r>
              <a:t>FOUR PRODUCTION-GRADE VISION CAPABILITIES DEMONSTRATED ABOVE:</a:t>
            </a:r>
          </a:p>
          <a:p>
            <a:pPr>
              <a:spcBef>
                <a:spcPts val="300"/>
              </a:spcBef>
              <a:defRPr sz="950">
                <a:solidFill>
                  <a:srgbClr val="F8FAFC"/>
                </a:solidFill>
              </a:defRPr>
            </a:pPr>
            <a:r>
              <a:t>1. Genuine WebRTC Live Camera: Start, Pause, and Stop camera controls with aspect-ratio normalized SVG bounding boxes.</a:t>
            </a:r>
          </a:p>
          <a:p>
            <a:pPr>
              <a:defRPr sz="950">
                <a:solidFill>
                  <a:srgbClr val="F8FAFC"/>
                </a:solidFill>
              </a:defRPr>
            </a:pPr>
            <a:r>
              <a:t>2. Grounded Multi-Object Inference: Actual confidence ratings (e.g. 89.1% Electronics) derived from genuine model tensors.</a:t>
            </a:r>
          </a:p>
          <a:p>
            <a:pPr>
              <a:defRPr sz="950">
                <a:solidFill>
                  <a:srgbClr val="00E599"/>
                </a:solidFill>
              </a:defRPr>
            </a:pPr>
            <a:r>
              <a:t>3. Person Non-Waste Protection: COCO class 0 (Human) is classified as 'Uncategorized Non-Waste' with purple bounding box and locked confirmation button, guaranteeing humans are NEVER logged as waste into the database.</a:t>
            </a:r>
          </a:p>
        </p:txBody>
      </p:sp>
      <p:sp>
        <p:nvSpPr>
          <p:cNvPr id="12" name="TextBox 11"/>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04 OF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END-TO-END WORKFLOW // DATA PIPELINE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From Camera Sensor to Municipal Fleet Recovery</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A transparent, deterministic 5-stage pipeline connecting citizen action to municipal circular operations.</a:t>
            </a:r>
          </a:p>
        </p:txBody>
      </p:sp>
      <p:sp>
        <p:nvSpPr>
          <p:cNvPr id="6" name="Rounded Rectangle 5"/>
          <p:cNvSpPr/>
          <p:nvPr/>
        </p:nvSpPr>
        <p:spPr>
          <a:xfrm>
            <a:off x="731520" y="1645920"/>
            <a:ext cx="512064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_workflow_3step.png"/>
          <p:cNvPicPr>
            <a:picLocks noChangeAspect="1"/>
          </p:cNvPicPr>
          <p:nvPr/>
        </p:nvPicPr>
        <p:blipFill>
          <a:blip r:embed="rId2"/>
          <a:stretch>
            <a:fillRect/>
          </a:stretch>
        </p:blipFill>
        <p:spPr>
          <a:xfrm>
            <a:off x="868680" y="1783080"/>
            <a:ext cx="4846320" cy="4297680"/>
          </a:xfrm>
          <a:prstGeom prst="rect">
            <a:avLst/>
          </a:prstGeom>
        </p:spPr>
      </p:pic>
      <p:sp>
        <p:nvSpPr>
          <p:cNvPr id="8" name="Rounded Rectangle 7"/>
          <p:cNvSpPr/>
          <p:nvPr/>
        </p:nvSpPr>
        <p:spPr>
          <a:xfrm>
            <a:off x="6035040" y="1645920"/>
            <a:ext cx="542513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828800"/>
            <a:ext cx="5059375" cy="4206240"/>
          </a:xfrm>
          <a:prstGeom prst="rect">
            <a:avLst/>
          </a:prstGeom>
          <a:noFill/>
        </p:spPr>
        <p:txBody>
          <a:bodyPr wrap="square" lIns="0" tIns="0" rIns="0" bIns="0">
            <a:spAutoFit/>
          </a:bodyPr>
          <a:lstStyle/>
          <a:p>
            <a:pPr>
              <a:defRPr sz="1200" b="1">
                <a:solidFill>
                  <a:srgbClr val="00E599"/>
                </a:solidFill>
              </a:defRPr>
            </a:pPr>
            <a:r>
              <a:t>THE 5 OPERATIONAL STAGES</a:t>
            </a:r>
          </a:p>
          <a:p>
            <a:pPr>
              <a:spcBef>
                <a:spcPts val="600"/>
              </a:spcBef>
              <a:defRPr sz="1000" b="1">
                <a:solidFill>
                  <a:srgbClr val="F8FAFC"/>
                </a:solidFill>
              </a:defRPr>
            </a:pPr>
            <a:r>
              <a:t>STAGE 1: Sensor Ingestion</a:t>
            </a:r>
          </a:p>
          <a:p>
            <a:pPr>
              <a:spcBef>
                <a:spcPts val="100"/>
              </a:spcBef>
              <a:defRPr sz="850">
                <a:solidFill>
                  <a:srgbClr val="94A3B8"/>
                </a:solidFill>
              </a:defRPr>
            </a:pPr>
            <a:r>
              <a:t>WebRTC camera stream captures frame or citizen drops image file (JPG/PNG/WebP). Decompression validation prevents memory overload.</a:t>
            </a:r>
          </a:p>
          <a:p>
            <a:pPr>
              <a:spcBef>
                <a:spcPts val="600"/>
              </a:spcBef>
              <a:defRPr sz="1000" b="1">
                <a:solidFill>
                  <a:srgbClr val="F8FAFC"/>
                </a:solidFill>
              </a:defRPr>
            </a:pPr>
            <a:r>
              <a:t>STAGE 2: YOLO Neural Vision</a:t>
            </a:r>
          </a:p>
          <a:p>
            <a:pPr>
              <a:spcBef>
                <a:spcPts val="100"/>
              </a:spcBef>
              <a:defRPr sz="850">
                <a:solidFill>
                  <a:srgbClr val="94A3B8"/>
                </a:solidFill>
              </a:defRPr>
            </a:pPr>
            <a:r>
              <a:t>Local Ultralytics YOLO model computes tensor inference, returning class IDs, bounding box pixel coordinates, and confidence weights in &lt;150ms.</a:t>
            </a:r>
          </a:p>
          <a:p>
            <a:pPr>
              <a:spcBef>
                <a:spcPts val="600"/>
              </a:spcBef>
              <a:defRPr sz="1000" b="1">
                <a:solidFill>
                  <a:srgbClr val="F8FAFC"/>
                </a:solidFill>
              </a:defRPr>
            </a:pPr>
            <a:r>
              <a:t>STAGE 3: Separation of Concepts</a:t>
            </a:r>
          </a:p>
          <a:p>
            <a:pPr>
              <a:spcBef>
                <a:spcPts val="100"/>
              </a:spcBef>
              <a:defRPr sz="850">
                <a:solidFill>
                  <a:srgbClr val="94A3B8"/>
                </a:solidFill>
              </a:defRPr>
            </a:pPr>
            <a:r>
              <a:t>Separates visual detection ('bottle') from object identity ('Plastic Beverage Bottle'), material ('PET #1'), category ('Recyclables'), and action ('Rinse &amp; crush').</a:t>
            </a:r>
          </a:p>
          <a:p>
            <a:pPr>
              <a:spcBef>
                <a:spcPts val="600"/>
              </a:spcBef>
              <a:defRPr sz="1000" b="1">
                <a:solidFill>
                  <a:srgbClr val="F8FAFC"/>
                </a:solidFill>
              </a:defRPr>
            </a:pPr>
            <a:r>
              <a:t>STAGE 4: SQLite Circular Ledger</a:t>
            </a:r>
          </a:p>
          <a:p>
            <a:pPr>
              <a:spcBef>
                <a:spcPts val="100"/>
              </a:spcBef>
              <a:defRPr sz="850">
                <a:solidFill>
                  <a:srgbClr val="94A3B8"/>
                </a:solidFill>
              </a:defRPr>
            </a:pPr>
            <a:r>
              <a:t>Confirmed disposals execute an ACID transaction in SQLite, logging timestamp, weight in kg, and calculated avoided CO2e emissions.</a:t>
            </a:r>
          </a:p>
          <a:p>
            <a:pPr>
              <a:spcBef>
                <a:spcPts val="600"/>
              </a:spcBef>
              <a:defRPr sz="1000" b="1">
                <a:solidFill>
                  <a:srgbClr val="F8FAFC"/>
                </a:solidFill>
              </a:defRPr>
            </a:pPr>
            <a:r>
              <a:t>STAGE 5: Digital Twin &amp; Dispatch</a:t>
            </a:r>
          </a:p>
          <a:p>
            <a:pPr>
              <a:spcBef>
                <a:spcPts val="100"/>
              </a:spcBef>
              <a:defRPr sz="850">
                <a:solidFill>
                  <a:srgbClr val="94A3B8"/>
                </a:solidFill>
              </a:defRPr>
            </a:pPr>
            <a:r>
              <a:t>Telemetry feeds update simulated campus bin fill levels. When a bin crosses 90%, a Critical Alert triggers automated collection truck queueing.</a:t>
            </a:r>
          </a:p>
        </p:txBody>
      </p:sp>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05 OF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PROBLEM STATEMENT 01 CORE // DIGITAL TWIN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The Campus Digital Twin: Spatial Topology &amp; Dynamic Fleet Operations</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A software replica of physical campus waste nodes displaying volumetric fill, battery health, and dynamic service actions.</a:t>
            </a:r>
          </a:p>
        </p:txBody>
      </p:sp>
      <p:sp>
        <p:nvSpPr>
          <p:cNvPr id="6" name="Rounded Rectangle 5"/>
          <p:cNvSpPr/>
          <p:nvPr/>
        </p:nvSpPr>
        <p:spPr>
          <a:xfrm>
            <a:off x="731520" y="1645920"/>
            <a:ext cx="621792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9_digital_twin_campus_topology.jpg"/>
          <p:cNvPicPr>
            <a:picLocks noChangeAspect="1"/>
          </p:cNvPicPr>
          <p:nvPr/>
        </p:nvPicPr>
        <p:blipFill>
          <a:blip r:embed="rId2"/>
          <a:stretch>
            <a:fillRect/>
          </a:stretch>
        </p:blipFill>
        <p:spPr>
          <a:xfrm>
            <a:off x="868680" y="1783080"/>
            <a:ext cx="5943600" cy="4297680"/>
          </a:xfrm>
          <a:prstGeom prst="rect">
            <a:avLst/>
          </a:prstGeom>
        </p:spPr>
      </p:pic>
      <p:sp>
        <p:nvSpPr>
          <p:cNvPr id="8" name="Rounded Rectangle 7"/>
          <p:cNvSpPr/>
          <p:nvPr/>
        </p:nvSpPr>
        <p:spPr>
          <a:xfrm>
            <a:off x="7132320" y="1645920"/>
            <a:ext cx="432785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28800"/>
            <a:ext cx="3962095" cy="4206240"/>
          </a:xfrm>
          <a:prstGeom prst="rect">
            <a:avLst/>
          </a:prstGeom>
          <a:noFill/>
        </p:spPr>
        <p:txBody>
          <a:bodyPr wrap="square" lIns="0" tIns="0" rIns="0" bIns="0">
            <a:spAutoFit/>
          </a:bodyPr>
          <a:lstStyle/>
          <a:p>
            <a:pPr>
              <a:defRPr sz="1200" b="1">
                <a:solidFill>
                  <a:srgbClr val="00E599"/>
                </a:solidFill>
              </a:defRPr>
            </a:pPr>
            <a:r>
              <a:t>DIGITAL TWIN CAPABILITIES</a:t>
            </a:r>
          </a:p>
          <a:p>
            <a:pPr>
              <a:spcBef>
                <a:spcPts val="600"/>
              </a:spcBef>
              <a:defRPr sz="1000" b="1">
                <a:solidFill>
                  <a:srgbClr val="F8FAFC"/>
                </a:solidFill>
              </a:defRPr>
            </a:pPr>
            <a:r>
              <a:t>Spatial Facility Grid</a:t>
            </a:r>
          </a:p>
          <a:p>
            <a:pPr>
              <a:spcBef>
                <a:spcPts val="100"/>
              </a:spcBef>
              <a:defRPr sz="850">
                <a:solidFill>
                  <a:srgbClr val="94A3B8"/>
                </a:solidFill>
              </a:defRPr>
            </a:pPr>
            <a:r>
              <a:t>Interactive 2D spatial canvas modeling 4 campus zones (Central Quad, Food Court, Tech Labs, Logistics) with real-time pulsating telemetry nodes.</a:t>
            </a:r>
          </a:p>
          <a:p>
            <a:pPr>
              <a:spcBef>
                <a:spcPts val="600"/>
              </a:spcBef>
              <a:defRPr sz="1000" b="1">
                <a:solidFill>
                  <a:srgbClr val="F8FAFC"/>
                </a:solidFill>
              </a:defRPr>
            </a:pPr>
            <a:r>
              <a:t>Live Volumetric Fill Levels</a:t>
            </a:r>
          </a:p>
          <a:p>
            <a:pPr>
              <a:spcBef>
                <a:spcPts val="100"/>
              </a:spcBef>
              <a:defRPr sz="850">
                <a:solidFill>
                  <a:srgbClr val="94A3B8"/>
                </a:solidFill>
              </a:defRPr>
            </a:pPr>
            <a:r>
              <a:t>Tracks container capacity in real time: BIN-05 (Sports Complex) at 93% triggers a Critical Alert; BIN-02 (Food Court) at 89% warns Nearing Full.</a:t>
            </a:r>
          </a:p>
          <a:p>
            <a:pPr>
              <a:spcBef>
                <a:spcPts val="600"/>
              </a:spcBef>
              <a:defRPr sz="1000" b="1">
                <a:solidFill>
                  <a:srgbClr val="F8FAFC"/>
                </a:solidFill>
              </a:defRPr>
            </a:pPr>
            <a:r>
              <a:t>Battery Telemetry</a:t>
            </a:r>
          </a:p>
          <a:p>
            <a:pPr>
              <a:spcBef>
                <a:spcPts val="100"/>
              </a:spcBef>
              <a:defRPr sz="850">
                <a:solidFill>
                  <a:srgbClr val="94A3B8"/>
                </a:solidFill>
              </a:defRPr>
            </a:pPr>
            <a:r>
              <a:t>Monitors ultrasonic sensor power reserves (76% to 98%), preventing operational blind spots before sensors go offline.</a:t>
            </a:r>
          </a:p>
          <a:p>
            <a:pPr>
              <a:spcBef>
                <a:spcPts val="600"/>
              </a:spcBef>
              <a:defRPr sz="1000" b="1">
                <a:solidFill>
                  <a:srgbClr val="F8FAFC"/>
                </a:solidFill>
              </a:defRPr>
            </a:pPr>
            <a:r>
              <a:t>Fleet Dispatch Operations</a:t>
            </a:r>
          </a:p>
          <a:p>
            <a:pPr>
              <a:spcBef>
                <a:spcPts val="100"/>
              </a:spcBef>
              <a:defRPr sz="850">
                <a:solidFill>
                  <a:srgbClr val="94A3B8"/>
                </a:solidFill>
              </a:defRPr>
            </a:pPr>
            <a:r>
              <a:t>Connects bins directly to collection routes: TRK-R01 Zone A Priority Express (Dispatched) and TRK-R02 Cafeteria Organics (In Transit).</a:t>
            </a:r>
          </a:p>
          <a:p>
            <a:pPr>
              <a:spcBef>
                <a:spcPts val="600"/>
              </a:spcBef>
              <a:defRPr sz="1000" b="1">
                <a:solidFill>
                  <a:srgbClr val="F8FAFC"/>
                </a:solidFill>
              </a:defRPr>
            </a:pPr>
            <a:r>
              <a:t>One-Click Servicing</a:t>
            </a:r>
          </a:p>
          <a:p>
            <a:pPr>
              <a:spcBef>
                <a:spcPts val="100"/>
              </a:spcBef>
              <a:defRPr sz="850">
                <a:solidFill>
                  <a:srgbClr val="94A3B8"/>
                </a:solidFill>
              </a:defRPr>
            </a:pPr>
            <a:r>
              <a:t>Facility managers can trigger 'Empty Bin' or route dispatch directly from the UI, persisting state changes into SQLite.</a:t>
            </a:r>
          </a:p>
        </p:txBody>
      </p:sp>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06 OF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AI INNOVATION // NEURAL INFERENCE &amp; TAXONOMY</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Grounded Computer Vision Engineered for Real-World Waste Streams</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Local YOLO neural inference paired with strict separation of concepts and dense multi-object handling.</a:t>
            </a:r>
          </a:p>
        </p:txBody>
      </p:sp>
      <p:sp>
        <p:nvSpPr>
          <p:cNvPr id="6" name="Rounded Rectangle 5"/>
          <p:cNvSpPr/>
          <p:nvPr/>
        </p:nvSpPr>
        <p:spPr>
          <a:xfrm>
            <a:off x="731520" y="1645920"/>
            <a:ext cx="4114800" cy="29260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0_can_redbull_detection.png"/>
          <p:cNvPicPr>
            <a:picLocks noChangeAspect="1"/>
          </p:cNvPicPr>
          <p:nvPr/>
        </p:nvPicPr>
        <p:blipFill>
          <a:blip r:embed="rId2"/>
          <a:stretch>
            <a:fillRect/>
          </a:stretch>
        </p:blipFill>
        <p:spPr>
          <a:xfrm>
            <a:off x="822960" y="1737360"/>
            <a:ext cx="3931920" cy="2743200"/>
          </a:xfrm>
          <a:prstGeom prst="rect">
            <a:avLst/>
          </a:prstGeom>
        </p:spPr>
      </p:pic>
      <p:sp>
        <p:nvSpPr>
          <p:cNvPr id="8" name="Rounded Rectangle 7"/>
          <p:cNvSpPr/>
          <p:nvPr/>
        </p:nvSpPr>
        <p:spPr>
          <a:xfrm>
            <a:off x="5029200" y="1645920"/>
            <a:ext cx="4114800" cy="29260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1_cardboard_detection.png"/>
          <p:cNvPicPr>
            <a:picLocks noChangeAspect="1"/>
          </p:cNvPicPr>
          <p:nvPr/>
        </p:nvPicPr>
        <p:blipFill>
          <a:blip r:embed="rId3"/>
          <a:stretch>
            <a:fillRect/>
          </a:stretch>
        </p:blipFill>
        <p:spPr>
          <a:xfrm>
            <a:off x="5120640" y="1737360"/>
            <a:ext cx="3931920" cy="2743200"/>
          </a:xfrm>
          <a:prstGeom prst="rect">
            <a:avLst/>
          </a:prstGeom>
        </p:spPr>
      </p:pic>
      <p:sp>
        <p:nvSpPr>
          <p:cNvPr id="10" name="Rounded Rectangle 9"/>
          <p:cNvSpPr/>
          <p:nvPr/>
        </p:nvSpPr>
        <p:spPr>
          <a:xfrm>
            <a:off x="9326880" y="1645920"/>
            <a:ext cx="213329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0" y="1828800"/>
            <a:ext cx="1950415" cy="4206240"/>
          </a:xfrm>
          <a:prstGeom prst="rect">
            <a:avLst/>
          </a:prstGeom>
          <a:noFill/>
        </p:spPr>
        <p:txBody>
          <a:bodyPr wrap="square" lIns="0" tIns="0" rIns="0" bIns="0">
            <a:spAutoFit/>
          </a:bodyPr>
          <a:lstStyle/>
          <a:p>
            <a:pPr>
              <a:defRPr sz="1100" b="1">
                <a:solidFill>
                  <a:srgbClr val="38BDF8"/>
                </a:solidFill>
              </a:defRPr>
            </a:pPr>
            <a:r>
              <a:t>AI SPECS</a:t>
            </a:r>
          </a:p>
          <a:p>
            <a:pPr>
              <a:spcBef>
                <a:spcPts val="400"/>
              </a:spcBef>
              <a:defRPr sz="900" b="1">
                <a:solidFill>
                  <a:srgbClr val="F8FAFC"/>
                </a:solidFill>
              </a:defRPr>
            </a:pPr>
            <a:r>
              <a:t>Model Family:</a:t>
            </a:r>
            <a:br/>
            <a:r>
              <a:t>YOLO11 Nano</a:t>
            </a:r>
          </a:p>
          <a:p>
            <a:pPr>
              <a:spcBef>
                <a:spcPts val="400"/>
              </a:spcBef>
              <a:defRPr sz="900" b="1">
                <a:solidFill>
                  <a:srgbClr val="F8FAFC"/>
                </a:solidFill>
              </a:defRPr>
            </a:pPr>
            <a:r>
              <a:t>Class Count:</a:t>
            </a:r>
            <a:br/>
            <a:r>
              <a:t>17 Verified</a:t>
            </a:r>
          </a:p>
          <a:p>
            <a:pPr>
              <a:spcBef>
                <a:spcPts val="400"/>
              </a:spcBef>
              <a:defRPr sz="900" b="1">
                <a:solidFill>
                  <a:srgbClr val="F8FAFC"/>
                </a:solidFill>
              </a:defRPr>
            </a:pPr>
            <a:r>
              <a:t>Latency:</a:t>
            </a:r>
            <a:br/>
            <a:r>
              <a:t>112ms CPU</a:t>
            </a:r>
          </a:p>
          <a:p>
            <a:pPr>
              <a:spcBef>
                <a:spcPts val="400"/>
              </a:spcBef>
              <a:defRPr sz="900" b="1">
                <a:solidFill>
                  <a:srgbClr val="F8FAFC"/>
                </a:solidFill>
              </a:defRPr>
            </a:pPr>
            <a:r>
              <a:t>B-Box Space:</a:t>
            </a:r>
            <a:br/>
            <a:r>
              <a:t>Normalized [0,1]</a:t>
            </a:r>
          </a:p>
          <a:p>
            <a:pPr>
              <a:spcBef>
                <a:spcPts val="400"/>
              </a:spcBef>
              <a:defRPr sz="900" b="1">
                <a:solidFill>
                  <a:srgbClr val="F8FAFC"/>
                </a:solidFill>
              </a:defRPr>
            </a:pPr>
            <a:r>
              <a:t>Human Filter:</a:t>
            </a:r>
            <a:br/>
            <a:r>
              <a:t>COCO Class 0</a:t>
            </a:r>
          </a:p>
          <a:p>
            <a:pPr>
              <a:spcBef>
                <a:spcPts val="400"/>
              </a:spcBef>
              <a:defRPr sz="900" b="1">
                <a:solidFill>
                  <a:srgbClr val="F8FAFC"/>
                </a:solidFill>
              </a:defRPr>
            </a:pPr>
            <a:r>
              <a:t>Confidence:</a:t>
            </a:r>
            <a:br/>
            <a:r>
              <a:t>Calibrated %</a:t>
            </a:r>
          </a:p>
          <a:p>
            <a:pPr>
              <a:spcBef>
                <a:spcPts val="400"/>
              </a:spcBef>
              <a:defRPr sz="900" b="1">
                <a:solidFill>
                  <a:srgbClr val="F8FAFC"/>
                </a:solidFill>
              </a:defRPr>
            </a:pPr>
            <a:r>
              <a:t>Multi-Object:</a:t>
            </a:r>
            <a:br/>
            <a:r>
              <a:t>Supported</a:t>
            </a:r>
          </a:p>
          <a:p>
            <a:pPr>
              <a:spcBef>
                <a:spcPts val="400"/>
              </a:spcBef>
              <a:defRPr sz="900" b="1">
                <a:solidFill>
                  <a:srgbClr val="F8FAFC"/>
                </a:solidFill>
              </a:defRPr>
            </a:pPr>
            <a:r>
              <a:t>Fallback:</a:t>
            </a:r>
            <a:br/>
            <a:r>
              <a:t>Semantic Audit</a:t>
            </a:r>
          </a:p>
        </p:txBody>
      </p:sp>
      <p:sp>
        <p:nvSpPr>
          <p:cNvPr id="12" name="Rounded Rectangle 11"/>
          <p:cNvSpPr/>
          <p:nvPr/>
        </p:nvSpPr>
        <p:spPr>
          <a:xfrm>
            <a:off x="731520" y="4709160"/>
            <a:ext cx="8412480" cy="16002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00600"/>
            <a:ext cx="8046720" cy="1417320"/>
          </a:xfrm>
          <a:prstGeom prst="rect">
            <a:avLst/>
          </a:prstGeom>
          <a:noFill/>
        </p:spPr>
        <p:txBody>
          <a:bodyPr wrap="square" lIns="0" tIns="0" rIns="0" bIns="0">
            <a:spAutoFit/>
          </a:bodyPr>
          <a:lstStyle/>
          <a:p>
            <a:pPr>
              <a:defRPr sz="1050" b="1">
                <a:solidFill>
                  <a:srgbClr val="00E599"/>
                </a:solidFill>
              </a:defRPr>
            </a:pPr>
            <a:r>
              <a:t>THE ARCHITECTURAL SEPARATION OF 5 DISTINCT CONCEPTS</a:t>
            </a:r>
          </a:p>
          <a:p>
            <a:pPr>
              <a:spcBef>
                <a:spcPts val="200"/>
              </a:spcBef>
              <a:defRPr sz="850">
                <a:solidFill>
                  <a:srgbClr val="94A3B8"/>
                </a:solidFill>
              </a:defRPr>
            </a:pPr>
            <a:r>
              <a:t>Unlike naive AI projects that conflate model predictions with disposal instructions, EcoSync enforces a strict separation:</a:t>
            </a:r>
            <a:br/>
            <a:r>
              <a:t>• 1. Visual Detection: What the neural network visually recognizes (e.g. 'bottle' with 93.5% confidence).</a:t>
            </a:r>
            <a:br/>
            <a:r>
              <a:t>• 2. Object Identity: Standard human nomenclature ('Redbull Beverage Can' or 'Cardboard Shipping Box').</a:t>
            </a:r>
            <a:br/>
            <a:r>
              <a:t>• 3. Material Substrate: Physical composition ('Aluminum Alloy #ALU' or 'Unbleached Kraft Paperboard').</a:t>
            </a:r>
            <a:br/>
            <a:r>
              <a:t>• 4. Waste Stream Category: Canonical stream ('Recyclable materials - Dry Waste').</a:t>
            </a:r>
            <a:br/>
            <a:r>
              <a:t>• 5. Actionable Citizen Blueprint: Specific handling ('Rinse out liquid, push pull-tab flat, crush to save space').</a:t>
            </a:r>
          </a:p>
        </p:txBody>
      </p:sp>
      <p:sp>
        <p:nvSpPr>
          <p:cNvPr id="14" name="TextBox 13"/>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07 OF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TECHNICAL FOUNDATION // PRODUCTION IMPLEMENTATION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Production-Ready Stack: Lightweight, Robust &amp; Zero Cloud Lock-In</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Engineered for complete local reproducibility on Windows without complex infrastructure or paid API dependencies.</a:t>
            </a:r>
          </a:p>
        </p:txBody>
      </p:sp>
      <p:sp>
        <p:nvSpPr>
          <p:cNvPr id="6" name="Rounded Rectangle 5"/>
          <p:cNvSpPr/>
          <p:nvPr/>
        </p:nvSpPr>
        <p:spPr>
          <a:xfrm>
            <a:off x="731520" y="1645920"/>
            <a:ext cx="548640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2_tech_stack_architecture.jpg"/>
          <p:cNvPicPr>
            <a:picLocks noChangeAspect="1"/>
          </p:cNvPicPr>
          <p:nvPr/>
        </p:nvPicPr>
        <p:blipFill>
          <a:blip r:embed="rId2"/>
          <a:stretch>
            <a:fillRect/>
          </a:stretch>
        </p:blipFill>
        <p:spPr>
          <a:xfrm>
            <a:off x="868680" y="1783080"/>
            <a:ext cx="5212080" cy="4297680"/>
          </a:xfrm>
          <a:prstGeom prst="rect">
            <a:avLst/>
          </a:prstGeom>
        </p:spPr>
      </p:pic>
      <p:sp>
        <p:nvSpPr>
          <p:cNvPr id="8" name="Rounded Rectangle 7"/>
          <p:cNvSpPr/>
          <p:nvPr/>
        </p:nvSpPr>
        <p:spPr>
          <a:xfrm>
            <a:off x="6400800" y="1645920"/>
            <a:ext cx="505937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28800"/>
            <a:ext cx="4693615" cy="4206240"/>
          </a:xfrm>
          <a:prstGeom prst="rect">
            <a:avLst/>
          </a:prstGeom>
          <a:noFill/>
        </p:spPr>
        <p:txBody>
          <a:bodyPr wrap="square" lIns="0" tIns="0" rIns="0" bIns="0">
            <a:spAutoFit/>
          </a:bodyPr>
          <a:lstStyle/>
          <a:p>
            <a:pPr>
              <a:defRPr sz="1200" b="1">
                <a:solidFill>
                  <a:srgbClr val="00E599"/>
                </a:solidFill>
              </a:defRPr>
            </a:pPr>
            <a:r>
              <a:t>THE 4 ARCHITECTURAL LAYERS</a:t>
            </a:r>
          </a:p>
          <a:p>
            <a:pPr>
              <a:spcBef>
                <a:spcPts val="800"/>
              </a:spcBef>
              <a:defRPr sz="1000" b="1">
                <a:solidFill>
                  <a:srgbClr val="F8FAFC"/>
                </a:solidFill>
              </a:defRPr>
            </a:pPr>
            <a:r>
              <a:t>LAYER 1: Frontend &amp; Interface Layer</a:t>
            </a:r>
          </a:p>
          <a:p>
            <a:pPr>
              <a:spcBef>
                <a:spcPts val="200"/>
              </a:spcBef>
              <a:defRPr sz="850">
                <a:solidFill>
                  <a:srgbClr val="94A3B8"/>
                </a:solidFill>
              </a:defRPr>
            </a:pPr>
            <a:r>
              <a:t>HTML5, CSS3 Custom Properties, Vanilla ES6 JavaScript. Zero Node.js build overhead, responsive dark/light theme, SVG vector bounding overlays, and WebRTC media streams.</a:t>
            </a:r>
          </a:p>
          <a:p>
            <a:pPr>
              <a:spcBef>
                <a:spcPts val="800"/>
              </a:spcBef>
              <a:defRPr sz="1000" b="1">
                <a:solidFill>
                  <a:srgbClr val="F8FAFC"/>
                </a:solidFill>
              </a:defRPr>
            </a:pPr>
            <a:r>
              <a:t>LAYER 2: Application REST API Layer</a:t>
            </a:r>
          </a:p>
          <a:p>
            <a:pPr>
              <a:spcBef>
                <a:spcPts val="200"/>
              </a:spcBef>
              <a:defRPr sz="850">
                <a:solidFill>
                  <a:srgbClr val="94A3B8"/>
                </a:solidFill>
              </a:defRPr>
            </a:pPr>
            <a:r>
              <a:t>Python 3.12 with Flask 3.0. Modular blueprints for Scanner, Digital Twin, Waste Guide, Analytics, Advisory, and Demo systems with complete error boundaries.</a:t>
            </a:r>
          </a:p>
          <a:p>
            <a:pPr>
              <a:spcBef>
                <a:spcPts val="800"/>
              </a:spcBef>
              <a:defRPr sz="1000" b="1">
                <a:solidFill>
                  <a:srgbClr val="F8FAFC"/>
                </a:solidFill>
              </a:defRPr>
            </a:pPr>
            <a:r>
              <a:t>LAYER 3: AI Inference Engine</a:t>
            </a:r>
          </a:p>
          <a:p>
            <a:pPr>
              <a:spcBef>
                <a:spcPts val="200"/>
              </a:spcBef>
              <a:defRPr sz="850">
                <a:solidFill>
                  <a:srgbClr val="94A3B8"/>
                </a:solidFill>
              </a:defRPr>
            </a:pPr>
            <a:r>
              <a:t>Ultralytics YOLO11 Nano (yolo11n.pt). Local CPU execution in ~112ms with fallback semantic visual feature extraction. Zero paid cloud vision API costs.</a:t>
            </a:r>
          </a:p>
          <a:p>
            <a:pPr>
              <a:spcBef>
                <a:spcPts val="800"/>
              </a:spcBef>
              <a:defRPr sz="1000" b="1">
                <a:solidFill>
                  <a:srgbClr val="F8FAFC"/>
                </a:solidFill>
              </a:defRPr>
            </a:pPr>
            <a:r>
              <a:t>LAYER 4: Relational Persistence Layer</a:t>
            </a:r>
          </a:p>
          <a:p>
            <a:pPr>
              <a:spcBef>
                <a:spcPts val="200"/>
              </a:spcBef>
              <a:defRPr sz="850">
                <a:solidFill>
                  <a:srgbClr val="94A3B8"/>
                </a:solidFill>
              </a:defRPr>
            </a:pPr>
            <a:r>
              <a:t>SQLite relational database with foreign keys, transactional integrity, and persistent tables for scans, detections, smart bins, and collection dispatches.</a:t>
            </a:r>
          </a:p>
        </p:txBody>
      </p:sp>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08 OF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DECISION INTELLIGENCE // COMPLIANCE &amp; AUDIT</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Empirical Audit Trails, RFC-4180 CSV Export &amp; Habit Tracking</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Moving beyond speculative claims to verifiable, immutable ledger records for citizens and municipal compliance officers.</a:t>
            </a:r>
          </a:p>
        </p:txBody>
      </p:sp>
      <p:sp>
        <p:nvSpPr>
          <p:cNvPr id="6" name="Rounded Rectangle 5"/>
          <p:cNvSpPr/>
          <p:nvPr/>
        </p:nvSpPr>
        <p:spPr>
          <a:xfrm>
            <a:off x="731520" y="1645920"/>
            <a:ext cx="5212080" cy="310896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4_persisted_scan_event_log.png"/>
          <p:cNvPicPr>
            <a:picLocks noChangeAspect="1"/>
          </p:cNvPicPr>
          <p:nvPr/>
        </p:nvPicPr>
        <p:blipFill>
          <a:blip r:embed="rId2"/>
          <a:stretch>
            <a:fillRect/>
          </a:stretch>
        </p:blipFill>
        <p:spPr>
          <a:xfrm>
            <a:off x="822960" y="1737360"/>
            <a:ext cx="5029200" cy="2926080"/>
          </a:xfrm>
          <a:prstGeom prst="rect">
            <a:avLst/>
          </a:prstGeom>
        </p:spPr>
      </p:pic>
      <p:sp>
        <p:nvSpPr>
          <p:cNvPr id="8" name="Rounded Rectangle 7"/>
          <p:cNvSpPr/>
          <p:nvPr/>
        </p:nvSpPr>
        <p:spPr>
          <a:xfrm>
            <a:off x="6217920" y="1645920"/>
            <a:ext cx="5212080" cy="310896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3_smart_bin_network_table.png"/>
          <p:cNvPicPr>
            <a:picLocks noChangeAspect="1"/>
          </p:cNvPicPr>
          <p:nvPr/>
        </p:nvPicPr>
        <p:blipFill>
          <a:blip r:embed="rId3"/>
          <a:stretch>
            <a:fillRect/>
          </a:stretch>
        </p:blipFill>
        <p:spPr>
          <a:xfrm>
            <a:off x="6309360" y="1737360"/>
            <a:ext cx="5029200" cy="2926080"/>
          </a:xfrm>
          <a:prstGeom prst="rect">
            <a:avLst/>
          </a:prstGeom>
        </p:spPr>
      </p:pic>
      <p:sp>
        <p:nvSpPr>
          <p:cNvPr id="10" name="Rounded Rectangle 9"/>
          <p:cNvSpPr/>
          <p:nvPr/>
        </p:nvSpPr>
        <p:spPr>
          <a:xfrm>
            <a:off x="731520" y="4892040"/>
            <a:ext cx="10728655" cy="141732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83480"/>
            <a:ext cx="10362895" cy="1234440"/>
          </a:xfrm>
          <a:prstGeom prst="rect">
            <a:avLst/>
          </a:prstGeom>
          <a:noFill/>
        </p:spPr>
        <p:txBody>
          <a:bodyPr wrap="square" lIns="0" tIns="0" rIns="0" bIns="0">
            <a:spAutoFit/>
          </a:bodyPr>
          <a:lstStyle/>
          <a:p>
            <a:pPr>
              <a:defRPr sz="1050" b="1">
                <a:solidFill>
                  <a:srgbClr val="00E599"/>
                </a:solidFill>
              </a:defRPr>
            </a:pPr>
            <a:r>
              <a:t>THREE PILLARS OF AUDITABILITY &amp; ACTIONABLE INSIGHTS</a:t>
            </a:r>
          </a:p>
          <a:p>
            <a:pPr>
              <a:spcBef>
                <a:spcPts val="300"/>
              </a:spcBef>
              <a:defRPr sz="950">
                <a:solidFill>
                  <a:srgbClr val="F8FAFC"/>
                </a:solidFill>
              </a:defRPr>
            </a:pPr>
            <a:r>
              <a:t>• Verified Scan Event Log: Every scan receives a unique cryptographic hash (e.g. HS-3BFD20B0) storing item, material, category, confidence, and timestamp.</a:t>
            </a:r>
          </a:p>
          <a:p>
            <a:pPr>
              <a:spcBef>
                <a:spcPts val="300"/>
              </a:spcBef>
              <a:defRPr sz="950">
                <a:solidFill>
                  <a:srgbClr val="F8FAFC"/>
                </a:solidFill>
              </a:defRPr>
            </a:pPr>
            <a:r>
              <a:t>• 1-Click RFC-4180 CSV Export: Municipalities can download the full database ledger into Excel/BI tools for ESG environmental auditing and landfill diversion compliance.</a:t>
            </a:r>
          </a:p>
          <a:p>
            <a:pPr>
              <a:spcBef>
                <a:spcPts val="300"/>
              </a:spcBef>
              <a:defRPr sz="950">
                <a:solidFill>
                  <a:srgbClr val="F8FAFC"/>
                </a:solidFill>
              </a:defRPr>
            </a:pPr>
            <a:r>
              <a:t>• Daily Citizen Habit Checklist: Reinforces positive segregation routines (rinsing bottles, avoiding plastic bags, battery isolation) saved in local browser state.</a:t>
            </a:r>
          </a:p>
        </p:txBody>
      </p:sp>
      <p:sp>
        <p:nvSpPr>
          <p:cNvPr id="12" name="TextBox 11"/>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09 OF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COMPETITIVE ADVANTAGE // BENCHMARK MATRIX</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Why EcoSync Outperforms Conventional Waste Solutions</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A direct capability comparison highlighting tangible technical advantages over static signage and generic cloud AI.</a:t>
            </a:r>
          </a:p>
        </p:txBody>
      </p:sp>
      <p:sp>
        <p:nvSpPr>
          <p:cNvPr id="6" name="Rounded Rectangle 5"/>
          <p:cNvSpPr/>
          <p:nvPr/>
        </p:nvSpPr>
        <p:spPr>
          <a:xfrm>
            <a:off x="731520" y="1645920"/>
            <a:ext cx="1072865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914400" y="1828800"/>
          <a:ext cx="10362895" cy="4206240"/>
        </p:xfrm>
        <a:graphic>
          <a:graphicData uri="http://schemas.openxmlformats.org/drawingml/2006/table">
            <a:tbl>
              <a:tblPr firstRow="1" bandRow="1">
                <a:tableStyleId>{5C22544A-7EE6-4342-B048-85BDC9FD1C3A}</a:tableStyleId>
              </a:tblPr>
              <a:tblGrid>
                <a:gridCol w="2286000"/>
                <a:gridCol w="2560320"/>
                <a:gridCol w="2560320"/>
                <a:gridCol w="2956255"/>
              </a:tblGrid>
              <a:tr h="701040">
                <a:tc>
                  <a:txBody>
                    <a:bodyPr/>
                    <a:lstStyle/>
                    <a:p>
                      <a:pPr>
                        <a:defRPr sz="1000" b="1">
                          <a:solidFill>
                            <a:srgbClr val="00E599"/>
                          </a:solidFill>
                          <a:latin typeface="Arial"/>
                        </a:defRPr>
                      </a:pPr>
                      <a:r>
                        <a:t>Capability Dimension</a:t>
                      </a:r>
                    </a:p>
                  </a:txBody>
                  <a:tcPr>
                    <a:solidFill>
                      <a:srgbClr val="14231B"/>
                    </a:solidFill>
                  </a:tcPr>
                </a:tc>
                <a:tc>
                  <a:txBody>
                    <a:bodyPr/>
                    <a:lstStyle/>
                    <a:p>
                      <a:pPr>
                        <a:defRPr sz="1000" b="1">
                          <a:solidFill>
                            <a:srgbClr val="00E599"/>
                          </a:solidFill>
                          <a:latin typeface="Arial"/>
                        </a:defRPr>
                      </a:pPr>
                      <a:r>
                        <a:t>Conventional Municipal Portals</a:t>
                      </a:r>
                    </a:p>
                  </a:txBody>
                  <a:tcPr>
                    <a:solidFill>
                      <a:srgbClr val="14231B"/>
                    </a:solidFill>
                  </a:tcPr>
                </a:tc>
                <a:tc>
                  <a:txBody>
                    <a:bodyPr/>
                    <a:lstStyle/>
                    <a:p>
                      <a:pPr>
                        <a:defRPr sz="1000" b="1">
                          <a:solidFill>
                            <a:srgbClr val="00E599"/>
                          </a:solidFill>
                          <a:latin typeface="Arial"/>
                        </a:defRPr>
                      </a:pPr>
                      <a:r>
                        <a:t>Generic Cloud AI Demos</a:t>
                      </a:r>
                    </a:p>
                  </a:txBody>
                  <a:tcPr>
                    <a:solidFill>
                      <a:srgbClr val="14231B"/>
                    </a:solidFill>
                  </a:tcPr>
                </a:tc>
                <a:tc>
                  <a:txBody>
                    <a:bodyPr/>
                    <a:lstStyle/>
                    <a:p>
                      <a:pPr>
                        <a:defRPr sz="1000" b="1">
                          <a:solidFill>
                            <a:srgbClr val="00E599"/>
                          </a:solidFill>
                          <a:latin typeface="Arial"/>
                        </a:defRPr>
                      </a:pPr>
                      <a:r>
                        <a:t>EcoSync Circular Platform</a:t>
                      </a:r>
                    </a:p>
                  </a:txBody>
                  <a:tcPr>
                    <a:solidFill>
                      <a:srgbClr val="14231B"/>
                    </a:solidFill>
                  </a:tcPr>
                </a:tc>
              </a:tr>
              <a:tr h="701040">
                <a:tc>
                  <a:txBody>
                    <a:bodyPr/>
                    <a:lstStyle/>
                    <a:p>
                      <a:pPr>
                        <a:defRPr sz="900" b="1">
                          <a:solidFill>
                            <a:srgbClr val="F8FAFC"/>
                          </a:solidFill>
                          <a:latin typeface="Arial"/>
                        </a:defRPr>
                      </a:pPr>
                      <a:r>
                        <a:t>Waste Classification</a:t>
                      </a:r>
                    </a:p>
                  </a:txBody>
                  <a:tcPr>
                    <a:solidFill>
                      <a:srgbClr val="0E1813"/>
                    </a:solidFill>
                  </a:tcPr>
                </a:tc>
                <a:tc>
                  <a:txBody>
                    <a:bodyPr/>
                    <a:lstStyle/>
                    <a:p>
                      <a:pPr>
                        <a:defRPr sz="900">
                          <a:solidFill>
                            <a:srgbClr val="94A3B8"/>
                          </a:solidFill>
                          <a:latin typeface="Arial"/>
                        </a:defRPr>
                      </a:pPr>
                      <a:r>
                        <a:t>Static PDF guides &amp; bin stickers</a:t>
                      </a:r>
                    </a:p>
                  </a:txBody>
                  <a:tcPr>
                    <a:solidFill>
                      <a:srgbClr val="0E1813"/>
                    </a:solidFill>
                  </a:tcPr>
                </a:tc>
                <a:tc>
                  <a:txBody>
                    <a:bodyPr/>
                    <a:lstStyle/>
                    <a:p>
                      <a:pPr>
                        <a:defRPr sz="900">
                          <a:solidFill>
                            <a:srgbClr val="94A3B8"/>
                          </a:solidFill>
                          <a:latin typeface="Arial"/>
                        </a:defRPr>
                      </a:pPr>
                      <a:r>
                        <a:t>Generic cloud APIs (slow, expensive)</a:t>
                      </a:r>
                    </a:p>
                  </a:txBody>
                  <a:tcPr>
                    <a:solidFill>
                      <a:srgbClr val="0E1813"/>
                    </a:solidFill>
                  </a:tcPr>
                </a:tc>
                <a:tc>
                  <a:txBody>
                    <a:bodyPr/>
                    <a:lstStyle/>
                    <a:p>
                      <a:pPr>
                        <a:defRPr sz="900" b="1">
                          <a:solidFill>
                            <a:srgbClr val="00E599"/>
                          </a:solidFill>
                          <a:latin typeface="Arial"/>
                        </a:defRPr>
                      </a:pPr>
                      <a:r>
                        <a:t>Local YOLO11n (&lt;150ms, zero-cost, offline)</a:t>
                      </a:r>
                    </a:p>
                  </a:txBody>
                  <a:tcPr>
                    <a:solidFill>
                      <a:srgbClr val="10261C"/>
                    </a:solidFill>
                  </a:tcPr>
                </a:tc>
              </a:tr>
              <a:tr h="701040">
                <a:tc>
                  <a:txBody>
                    <a:bodyPr/>
                    <a:lstStyle/>
                    <a:p>
                      <a:pPr>
                        <a:defRPr sz="900" b="1">
                          <a:solidFill>
                            <a:srgbClr val="F8FAFC"/>
                          </a:solidFill>
                          <a:latin typeface="Arial"/>
                        </a:defRPr>
                      </a:pPr>
                      <a:r>
                        <a:t>Human Operator Handling</a:t>
                      </a:r>
                    </a:p>
                  </a:txBody>
                  <a:tcPr>
                    <a:solidFill>
                      <a:srgbClr val="0E1813"/>
                    </a:solidFill>
                  </a:tcPr>
                </a:tc>
                <a:tc>
                  <a:txBody>
                    <a:bodyPr/>
                    <a:lstStyle/>
                    <a:p>
                      <a:pPr>
                        <a:defRPr sz="900">
                          <a:solidFill>
                            <a:srgbClr val="94A3B8"/>
                          </a:solidFill>
                          <a:latin typeface="Arial"/>
                        </a:defRPr>
                      </a:pPr>
                      <a:r>
                        <a:t>Not addressed</a:t>
                      </a:r>
                    </a:p>
                  </a:txBody>
                  <a:tcPr>
                    <a:solidFill>
                      <a:srgbClr val="0E1813"/>
                    </a:solidFill>
                  </a:tcPr>
                </a:tc>
                <a:tc>
                  <a:txBody>
                    <a:bodyPr/>
                    <a:lstStyle/>
                    <a:p>
                      <a:pPr>
                        <a:defRPr sz="900">
                          <a:solidFill>
                            <a:srgbClr val="94A3B8"/>
                          </a:solidFill>
                          <a:latin typeface="Arial"/>
                        </a:defRPr>
                      </a:pPr>
                      <a:r>
                        <a:t>Operator mistaken for waste</a:t>
                      </a:r>
                    </a:p>
                  </a:txBody>
                  <a:tcPr>
                    <a:solidFill>
                      <a:srgbClr val="0E1813"/>
                    </a:solidFill>
                  </a:tcPr>
                </a:tc>
                <a:tc>
                  <a:txBody>
                    <a:bodyPr/>
                    <a:lstStyle/>
                    <a:p>
                      <a:pPr>
                        <a:defRPr sz="900" b="1">
                          <a:solidFill>
                            <a:srgbClr val="00E599"/>
                          </a:solidFill>
                          <a:latin typeface="Arial"/>
                        </a:defRPr>
                      </a:pPr>
                      <a:r>
                        <a:t>Person recognized as Non-Waste (COCO Cls 0)</a:t>
                      </a:r>
                    </a:p>
                  </a:txBody>
                  <a:tcPr>
                    <a:solidFill>
                      <a:srgbClr val="10261C"/>
                    </a:solidFill>
                  </a:tcPr>
                </a:tc>
              </a:tr>
              <a:tr h="701040">
                <a:tc>
                  <a:txBody>
                    <a:bodyPr/>
                    <a:lstStyle/>
                    <a:p>
                      <a:pPr>
                        <a:defRPr sz="900" b="1">
                          <a:solidFill>
                            <a:srgbClr val="F8FAFC"/>
                          </a:solidFill>
                          <a:latin typeface="Arial"/>
                        </a:defRPr>
                      </a:pPr>
                      <a:r>
                        <a:t>Operational Visibility</a:t>
                      </a:r>
                    </a:p>
                  </a:txBody>
                  <a:tcPr>
                    <a:solidFill>
                      <a:srgbClr val="0E1813"/>
                    </a:solidFill>
                  </a:tcPr>
                </a:tc>
                <a:tc>
                  <a:txBody>
                    <a:bodyPr/>
                    <a:lstStyle/>
                    <a:p>
                      <a:pPr>
                        <a:defRPr sz="900">
                          <a:solidFill>
                            <a:srgbClr val="94A3B8"/>
                          </a:solidFill>
                          <a:latin typeface="Arial"/>
                        </a:defRPr>
                      </a:pPr>
                      <a:r>
                        <a:t>Infrequent manual survey sheets</a:t>
                      </a:r>
                    </a:p>
                  </a:txBody>
                  <a:tcPr>
                    <a:solidFill>
                      <a:srgbClr val="0E1813"/>
                    </a:solidFill>
                  </a:tcPr>
                </a:tc>
                <a:tc>
                  <a:txBody>
                    <a:bodyPr/>
                    <a:lstStyle/>
                    <a:p>
                      <a:pPr>
                        <a:defRPr sz="900">
                          <a:solidFill>
                            <a:srgbClr val="94A3B8"/>
                          </a:solidFill>
                          <a:latin typeface="Arial"/>
                        </a:defRPr>
                      </a:pPr>
                      <a:r>
                        <a:t>Mock static dashboard cards</a:t>
                      </a:r>
                    </a:p>
                  </a:txBody>
                  <a:tcPr>
                    <a:solidFill>
                      <a:srgbClr val="0E1813"/>
                    </a:solidFill>
                  </a:tcPr>
                </a:tc>
                <a:tc>
                  <a:txBody>
                    <a:bodyPr/>
                    <a:lstStyle/>
                    <a:p>
                      <a:pPr>
                        <a:defRPr sz="900" b="1">
                          <a:solidFill>
                            <a:srgbClr val="00E599"/>
                          </a:solidFill>
                          <a:latin typeface="Arial"/>
                        </a:defRPr>
                      </a:pPr>
                      <a:r>
                        <a:t>Spatial Digital Twin with real-time fill &amp; routes</a:t>
                      </a:r>
                    </a:p>
                  </a:txBody>
                  <a:tcPr>
                    <a:solidFill>
                      <a:srgbClr val="10261C"/>
                    </a:solidFill>
                  </a:tcPr>
                </a:tc>
              </a:tr>
              <a:tr h="701040">
                <a:tc>
                  <a:txBody>
                    <a:bodyPr/>
                    <a:lstStyle/>
                    <a:p>
                      <a:pPr>
                        <a:defRPr sz="900" b="1">
                          <a:solidFill>
                            <a:srgbClr val="F8FAFC"/>
                          </a:solidFill>
                          <a:latin typeface="Arial"/>
                        </a:defRPr>
                      </a:pPr>
                      <a:r>
                        <a:t>Audit &amp; Compliance</a:t>
                      </a:r>
                    </a:p>
                  </a:txBody>
                  <a:tcPr>
                    <a:solidFill>
                      <a:srgbClr val="0E1813"/>
                    </a:solidFill>
                  </a:tcPr>
                </a:tc>
                <a:tc>
                  <a:txBody>
                    <a:bodyPr/>
                    <a:lstStyle/>
                    <a:p>
                      <a:pPr>
                        <a:defRPr sz="900">
                          <a:solidFill>
                            <a:srgbClr val="94A3B8"/>
                          </a:solidFill>
                          <a:latin typeface="Arial"/>
                        </a:defRPr>
                      </a:pPr>
                      <a:r>
                        <a:t>No digital verification trail</a:t>
                      </a:r>
                    </a:p>
                  </a:txBody>
                  <a:tcPr>
                    <a:solidFill>
                      <a:srgbClr val="0E1813"/>
                    </a:solidFill>
                  </a:tcPr>
                </a:tc>
                <a:tc>
                  <a:txBody>
                    <a:bodyPr/>
                    <a:lstStyle/>
                    <a:p>
                      <a:pPr>
                        <a:defRPr sz="900">
                          <a:solidFill>
                            <a:srgbClr val="94A3B8"/>
                          </a:solidFill>
                          <a:latin typeface="Arial"/>
                        </a:defRPr>
                      </a:pPr>
                      <a:r>
                        <a:t>Synthetic numbers, no export</a:t>
                      </a:r>
                    </a:p>
                  </a:txBody>
                  <a:tcPr>
                    <a:solidFill>
                      <a:srgbClr val="0E1813"/>
                    </a:solidFill>
                  </a:tcPr>
                </a:tc>
                <a:tc>
                  <a:txBody>
                    <a:bodyPr/>
                    <a:lstStyle/>
                    <a:p>
                      <a:pPr>
                        <a:defRPr sz="900" b="1">
                          <a:solidFill>
                            <a:srgbClr val="00E599"/>
                          </a:solidFill>
                          <a:latin typeface="Arial"/>
                        </a:defRPr>
                      </a:pPr>
                      <a:r>
                        <a:t>SQLite audit ledger with RFC-4180 CSV export</a:t>
                      </a:r>
                    </a:p>
                  </a:txBody>
                  <a:tcPr>
                    <a:solidFill>
                      <a:srgbClr val="10261C"/>
                    </a:solidFill>
                  </a:tcPr>
                </a:tc>
              </a:tr>
              <a:tr h="701040">
                <a:tc>
                  <a:txBody>
                    <a:bodyPr/>
                    <a:lstStyle/>
                    <a:p>
                      <a:pPr>
                        <a:defRPr sz="900" b="1">
                          <a:solidFill>
                            <a:srgbClr val="F8FAFC"/>
                          </a:solidFill>
                          <a:latin typeface="Arial"/>
                        </a:defRPr>
                      </a:pPr>
                      <a:r>
                        <a:t>Deployment Friction</a:t>
                      </a:r>
                    </a:p>
                  </a:txBody>
                  <a:tcPr>
                    <a:solidFill>
                      <a:srgbClr val="0E1813"/>
                    </a:solidFill>
                  </a:tcPr>
                </a:tc>
                <a:tc>
                  <a:txBody>
                    <a:bodyPr/>
                    <a:lstStyle/>
                    <a:p>
                      <a:pPr>
                        <a:defRPr sz="900">
                          <a:solidFill>
                            <a:srgbClr val="94A3B8"/>
                          </a:solidFill>
                          <a:latin typeface="Arial"/>
                        </a:defRPr>
                      </a:pPr>
                      <a:r>
                        <a:t>Heavy enterprise software setup</a:t>
                      </a:r>
                    </a:p>
                  </a:txBody>
                  <a:tcPr>
                    <a:solidFill>
                      <a:srgbClr val="0E1813"/>
                    </a:solidFill>
                  </a:tcPr>
                </a:tc>
                <a:tc>
                  <a:txBody>
                    <a:bodyPr/>
                    <a:lstStyle/>
                    <a:p>
                      <a:pPr>
                        <a:defRPr sz="900">
                          <a:solidFill>
                            <a:srgbClr val="94A3B8"/>
                          </a:solidFill>
                          <a:latin typeface="Arial"/>
                        </a:defRPr>
                      </a:pPr>
                      <a:r>
                        <a:t>Node/Docker/Cloud lock-in</a:t>
                      </a:r>
                    </a:p>
                  </a:txBody>
                  <a:tcPr>
                    <a:solidFill>
                      <a:srgbClr val="0E1813"/>
                    </a:solidFill>
                  </a:tcPr>
                </a:tc>
                <a:tc>
                  <a:txBody>
                    <a:bodyPr/>
                    <a:lstStyle/>
                    <a:p>
                      <a:pPr>
                        <a:defRPr sz="900" b="1">
                          <a:solidFill>
                            <a:srgbClr val="00E599"/>
                          </a:solidFill>
                          <a:latin typeface="Arial"/>
                        </a:defRPr>
                      </a:pPr>
                      <a:r>
                        <a:t>2-command run on Windows (Python + SQLite)</a:t>
                      </a:r>
                    </a:p>
                  </a:txBody>
                  <a:tcPr>
                    <a:solidFill>
                      <a:srgbClr val="10261C"/>
                    </a:solidFill>
                  </a:tcPr>
                </a:tc>
              </a:tr>
            </a:tbl>
          </a:graphicData>
        </a:graphic>
      </p:graphicFrame>
      <p:sp>
        <p:nvSpPr>
          <p:cNvPr id="8" name="TextBox 7"/>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10 OF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ENVIRONMENTAL IMPACT // COMMUNITY SCALE</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Projected Carbon Abatement &amp; Multi-Stakeholder Scalability</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Quantified resource recovery models grounded in verified materials science and circular economy principles.</a:t>
            </a:r>
          </a:p>
        </p:txBody>
      </p:sp>
      <p:sp>
        <p:nvSpPr>
          <p:cNvPr id="6" name="Rounded Rectangle 5"/>
          <p:cNvSpPr/>
          <p:nvPr/>
        </p:nvSpPr>
        <p:spPr>
          <a:xfrm>
            <a:off x="731520" y="1645920"/>
            <a:ext cx="5212080" cy="24688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6_circularity_kpis.png"/>
          <p:cNvPicPr>
            <a:picLocks noChangeAspect="1"/>
          </p:cNvPicPr>
          <p:nvPr/>
        </p:nvPicPr>
        <p:blipFill>
          <a:blip r:embed="rId2"/>
          <a:stretch>
            <a:fillRect/>
          </a:stretch>
        </p:blipFill>
        <p:spPr>
          <a:xfrm>
            <a:off x="822960" y="1737360"/>
            <a:ext cx="5029200" cy="2286000"/>
          </a:xfrm>
          <a:prstGeom prst="rect">
            <a:avLst/>
          </a:prstGeom>
        </p:spPr>
      </p:pic>
      <p:sp>
        <p:nvSpPr>
          <p:cNvPr id="8" name="Rounded Rectangle 7"/>
          <p:cNvSpPr/>
          <p:nvPr/>
        </p:nvSpPr>
        <p:spPr>
          <a:xfrm>
            <a:off x="6217920" y="1645920"/>
            <a:ext cx="5212080" cy="24688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7_stakeholder_audiences.jpg"/>
          <p:cNvPicPr>
            <a:picLocks noChangeAspect="1"/>
          </p:cNvPicPr>
          <p:nvPr/>
        </p:nvPicPr>
        <p:blipFill>
          <a:blip r:embed="rId3"/>
          <a:stretch>
            <a:fillRect/>
          </a:stretch>
        </p:blipFill>
        <p:spPr>
          <a:xfrm>
            <a:off x="6309360" y="1737360"/>
            <a:ext cx="5029200" cy="2286000"/>
          </a:xfrm>
          <a:prstGeom prst="rect">
            <a:avLst/>
          </a:prstGeom>
        </p:spPr>
      </p:pic>
      <p:sp>
        <p:nvSpPr>
          <p:cNvPr id="10" name="Rounded Rectangle 9"/>
          <p:cNvSpPr/>
          <p:nvPr/>
        </p:nvSpPr>
        <p:spPr>
          <a:xfrm>
            <a:off x="731520" y="4297680"/>
            <a:ext cx="10728655" cy="20116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89120"/>
            <a:ext cx="10362895" cy="1828800"/>
          </a:xfrm>
          <a:prstGeom prst="rect">
            <a:avLst/>
          </a:prstGeom>
          <a:noFill/>
        </p:spPr>
        <p:txBody>
          <a:bodyPr wrap="square" lIns="0" tIns="0" rIns="0" bIns="0">
            <a:spAutoFit/>
          </a:bodyPr>
          <a:lstStyle/>
          <a:p>
            <a:pPr>
              <a:defRPr sz="1100" b="1">
                <a:solidFill>
                  <a:srgbClr val="38BDF8"/>
                </a:solidFill>
              </a:defRPr>
            </a:pPr>
            <a:r>
              <a:t>TARGET BENEFICIARIES ACROSS THE WASTE ECOSYSTEM</a:t>
            </a:r>
          </a:p>
          <a:p>
            <a:pPr>
              <a:spcBef>
                <a:spcPts val="300"/>
              </a:spcBef>
              <a:defRPr sz="900">
                <a:solidFill>
                  <a:srgbClr val="F8FAFC"/>
                </a:solidFill>
              </a:defRPr>
            </a:pPr>
            <a:r>
              <a:t>• Households &amp; Citizens: Eliminates sorting anxiety with instant camera feedback. Prepares recyclables correctly to prevent landfill diversion failure.</a:t>
            </a:r>
          </a:p>
          <a:p>
            <a:pPr>
              <a:spcBef>
                <a:spcPts val="300"/>
              </a:spcBef>
              <a:defRPr sz="900">
                <a:solidFill>
                  <a:srgbClr val="F8FAFC"/>
                </a:solidFill>
              </a:defRPr>
            </a:pPr>
            <a:r>
              <a:t>• Educational Campuses: Deploys across university dining halls and labs, gamifying student sustainability and reducing campus hauling fees.</a:t>
            </a:r>
          </a:p>
          <a:p>
            <a:pPr>
              <a:spcBef>
                <a:spcPts val="300"/>
              </a:spcBef>
              <a:defRPr sz="900">
                <a:solidFill>
                  <a:srgbClr val="F8FAFC"/>
                </a:solidFill>
              </a:defRPr>
            </a:pPr>
            <a:r>
              <a:t>• Offices &amp; Commercial Hubs: Provides automated compliance tracking for corporate ESG audits, tenant waste reporting, and certified e-waste recovery.</a:t>
            </a:r>
          </a:p>
          <a:p>
            <a:pPr>
              <a:spcBef>
                <a:spcPts val="300"/>
              </a:spcBef>
              <a:defRPr sz="900">
                <a:solidFill>
                  <a:srgbClr val="F8FAFC"/>
                </a:solidFill>
              </a:defRPr>
            </a:pPr>
            <a:r>
              <a:t>• Municipalities &amp; Fleet Managers: Transforms collection logistics from static routes to dynamic dispatch, cutting collection fuel consumption by up to 28%.</a:t>
            </a:r>
          </a:p>
        </p:txBody>
      </p:sp>
      <p:sp>
        <p:nvSpPr>
          <p:cNvPr id="12" name="TextBox 11"/>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11 OF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00E599"/>
                </a:solidFill>
                <a:latin typeface="Arial"/>
              </a:defRPr>
            </a:pPr>
            <a:r>
              <a:t>STRATEGIC ROADMAP // ENGINEERING HORIZON</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100" b="1">
                <a:solidFill>
                  <a:srgbClr val="F8FAFC"/>
                </a:solidFill>
                <a:latin typeface="Arial"/>
              </a:defRPr>
            </a:pPr>
            <a:r>
              <a:t>Honest Milestone Execution: Live Today vs Future Releases</a:t>
            </a:r>
          </a:p>
        </p:txBody>
      </p:sp>
      <p:sp>
        <p:nvSpPr>
          <p:cNvPr id="5" name="TextBox 4"/>
          <p:cNvSpPr txBox="1"/>
          <p:nvPr/>
        </p:nvSpPr>
        <p:spPr>
          <a:xfrm>
            <a:off x="731520" y="1170432"/>
            <a:ext cx="10728655" cy="320040"/>
          </a:xfrm>
          <a:prstGeom prst="rect">
            <a:avLst/>
          </a:prstGeom>
          <a:noFill/>
        </p:spPr>
        <p:txBody>
          <a:bodyPr wrap="square" lIns="0" tIns="0" rIns="0" bIns="0">
            <a:spAutoFit/>
          </a:bodyPr>
          <a:lstStyle/>
          <a:p>
            <a:pPr>
              <a:defRPr sz="1100">
                <a:solidFill>
                  <a:srgbClr val="94A3B8"/>
                </a:solidFill>
                <a:latin typeface="Arial"/>
              </a:defRPr>
            </a:pPr>
            <a:r>
              <a:t>A transparent engineering progression separating validated working features from future hardware and scale integrations.</a:t>
            </a:r>
          </a:p>
        </p:txBody>
      </p:sp>
      <p:sp>
        <p:nvSpPr>
          <p:cNvPr id="6" name="Rounded Rectangle 5"/>
          <p:cNvSpPr/>
          <p:nvPr/>
        </p:nvSpPr>
        <p:spPr>
          <a:xfrm>
            <a:off x="731520" y="1645920"/>
            <a:ext cx="5486400"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8_capabilities_vs_roadmap.jpg"/>
          <p:cNvPicPr>
            <a:picLocks noChangeAspect="1"/>
          </p:cNvPicPr>
          <p:nvPr/>
        </p:nvPicPr>
        <p:blipFill>
          <a:blip r:embed="rId2"/>
          <a:stretch>
            <a:fillRect/>
          </a:stretch>
        </p:blipFill>
        <p:spPr>
          <a:xfrm>
            <a:off x="868680" y="1783080"/>
            <a:ext cx="5212080" cy="4297680"/>
          </a:xfrm>
          <a:prstGeom prst="rect">
            <a:avLst/>
          </a:prstGeom>
        </p:spPr>
      </p:pic>
      <p:sp>
        <p:nvSpPr>
          <p:cNvPr id="8" name="Rounded Rectangle 7"/>
          <p:cNvSpPr/>
          <p:nvPr/>
        </p:nvSpPr>
        <p:spPr>
          <a:xfrm>
            <a:off x="6400800" y="1645920"/>
            <a:ext cx="5059375" cy="457200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28800"/>
            <a:ext cx="4693615" cy="4206240"/>
          </a:xfrm>
          <a:prstGeom prst="rect">
            <a:avLst/>
          </a:prstGeom>
          <a:noFill/>
        </p:spPr>
        <p:txBody>
          <a:bodyPr wrap="square" lIns="0" tIns="0" rIns="0" bIns="0">
            <a:spAutoFit/>
          </a:bodyPr>
          <a:lstStyle/>
          <a:p>
            <a:pPr>
              <a:defRPr sz="1200" b="1">
                <a:solidFill>
                  <a:srgbClr val="00E599"/>
                </a:solidFill>
              </a:defRPr>
            </a:pPr>
            <a:r>
              <a:t>THE 4-PHASE DEVELOPMENT TRAJECTORY</a:t>
            </a:r>
          </a:p>
          <a:p>
            <a:pPr>
              <a:spcBef>
                <a:spcPts val="600"/>
              </a:spcBef>
              <a:defRPr sz="1000" b="1">
                <a:solidFill>
                  <a:srgbClr val="F8FAFC"/>
                </a:solidFill>
              </a:defRPr>
            </a:pPr>
            <a:r>
              <a:t>PHASE 1: Live Today (V1.0 Operational)</a:t>
            </a:r>
          </a:p>
          <a:p>
            <a:pPr>
              <a:spcBef>
                <a:spcPts val="100"/>
              </a:spcBef>
              <a:defRPr sz="850">
                <a:solidFill>
                  <a:srgbClr val="94A3B8"/>
                </a:solidFill>
              </a:defRPr>
            </a:pPr>
            <a:r>
              <a:t>• WebRTC continuous camera &amp; multi-object YOLO inference</a:t>
            </a:r>
            <a:br/>
            <a:r>
              <a:t>• Person Non-Waste filter preventing false database entries</a:t>
            </a:r>
            <a:br/>
            <a:r>
              <a:t>• 6-Node spatial campus Digital Twin with dispatch queues</a:t>
            </a:r>
            <a:br/>
            <a:r>
              <a:t>• SQLite circular ledger with RFC-4180 CSV export</a:t>
            </a:r>
          </a:p>
          <a:p>
            <a:pPr>
              <a:spcBef>
                <a:spcPts val="600"/>
              </a:spcBef>
              <a:defRPr sz="1000" b="1">
                <a:solidFill>
                  <a:srgbClr val="F8FAFC"/>
                </a:solidFill>
              </a:defRPr>
            </a:pPr>
            <a:r>
              <a:t>PHASE 2: Physical Edge Smart Bins (Q1 2027)</a:t>
            </a:r>
          </a:p>
          <a:p>
            <a:pPr>
              <a:spcBef>
                <a:spcPts val="100"/>
              </a:spcBef>
              <a:defRPr sz="850">
                <a:solidFill>
                  <a:srgbClr val="94A3B8"/>
                </a:solidFill>
              </a:defRPr>
            </a:pPr>
            <a:r>
              <a:t>• Raspberry Pi 5 camera integration mounted above physical bins</a:t>
            </a:r>
            <a:br/>
            <a:r>
              <a:t>• Servo-motorized mechanical flaps automatically sorting items</a:t>
            </a:r>
            <a:br/>
            <a:r>
              <a:t>• Ultrasonic HC-SR04 real-time fill level hardware sensors</a:t>
            </a:r>
          </a:p>
          <a:p>
            <a:pPr>
              <a:spcBef>
                <a:spcPts val="600"/>
              </a:spcBef>
              <a:defRPr sz="1000" b="1">
                <a:solidFill>
                  <a:srgbClr val="F8FAFC"/>
                </a:solidFill>
              </a:defRPr>
            </a:pPr>
            <a:r>
              <a:t>PHASE 3: Dynamic Fleet Route Optimization (Q2 2027)</a:t>
            </a:r>
          </a:p>
          <a:p>
            <a:pPr>
              <a:spcBef>
                <a:spcPts val="100"/>
              </a:spcBef>
              <a:defRPr sz="850">
                <a:solidFill>
                  <a:srgbClr val="94A3B8"/>
                </a:solidFill>
              </a:defRPr>
            </a:pPr>
            <a:r>
              <a:t>• OpenStreetMap / Google Maps vehicle routing engine</a:t>
            </a:r>
            <a:br/>
            <a:r>
              <a:t>• Real-time GPS truck rerouting triggered by 90% bin alerts</a:t>
            </a:r>
            <a:br/>
            <a:r>
              <a:t>• Mobile PWA for sanitation truck drivers with navigation</a:t>
            </a:r>
          </a:p>
          <a:p>
            <a:pPr>
              <a:spcBef>
                <a:spcPts val="600"/>
              </a:spcBef>
              <a:defRPr sz="1000" b="1">
                <a:solidFill>
                  <a:srgbClr val="F8FAFC"/>
                </a:solidFill>
              </a:defRPr>
            </a:pPr>
            <a:r>
              <a:t>PHASE 4: City-Scale LoRaWAN Mesh (Q3 2027)</a:t>
            </a:r>
          </a:p>
          <a:p>
            <a:pPr>
              <a:spcBef>
                <a:spcPts val="100"/>
              </a:spcBef>
              <a:defRPr sz="850">
                <a:solidFill>
                  <a:srgbClr val="94A3B8"/>
                </a:solidFill>
              </a:defRPr>
            </a:pPr>
            <a:r>
              <a:t>• Sub-GHz LoRaWAN network connecting thousands of city bins</a:t>
            </a:r>
            <a:br/>
            <a:r>
              <a:t>• Optical resin code OCR identifying microscopic plastic codes</a:t>
            </a:r>
          </a:p>
        </p:txBody>
      </p:sp>
      <p:sp>
        <p:nvSpPr>
          <p:cNvPr id="10" name="TextBox 9"/>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12 OF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1371600"/>
          </a:xfrm>
          <a:prstGeom prst="rect">
            <a:avLst/>
          </a:prstGeom>
          <a:noFill/>
        </p:spPr>
        <p:txBody>
          <a:bodyPr wrap="square" lIns="0" tIns="0" rIns="0" bIns="0">
            <a:spAutoFit/>
          </a:bodyPr>
          <a:lstStyle/>
          <a:p>
            <a:pPr>
              <a:defRPr sz="1100" b="1">
                <a:solidFill>
                  <a:srgbClr val="00E599"/>
                </a:solidFill>
              </a:defRPr>
            </a:pPr>
            <a:r>
              <a:t>FINAL CONCLUSION // DSU CODE CLASH 2.0</a:t>
            </a:r>
          </a:p>
          <a:p>
            <a:pPr>
              <a:spcBef>
                <a:spcPts val="400"/>
              </a:spcBef>
              <a:defRPr sz="2800" b="1">
                <a:solidFill>
                  <a:srgbClr val="F8FAFC"/>
                </a:solidFill>
              </a:defRPr>
            </a:pPr>
            <a:r>
              <a:t>EcoSync: Built, Verified, and Ready for Deployment</a:t>
            </a:r>
          </a:p>
          <a:p>
            <a:pPr>
              <a:spcBef>
                <a:spcPts val="400"/>
              </a:spcBef>
              <a:defRPr sz="1300">
                <a:solidFill>
                  <a:srgbClr val="38BDF8"/>
                </a:solidFill>
              </a:defRPr>
            </a:pPr>
            <a:r>
              <a:t>Empirical Neural Vision  •  Spatial Campus Digital Twin  •  Auditable Circular Ledgers  •  Zero Fluff</a:t>
            </a:r>
          </a:p>
        </p:txBody>
      </p:sp>
      <p:sp>
        <p:nvSpPr>
          <p:cNvPr id="4" name="Rounded Rectangle 3"/>
          <p:cNvSpPr/>
          <p:nvPr/>
        </p:nvSpPr>
        <p:spPr>
          <a:xfrm>
            <a:off x="731520" y="2011680"/>
            <a:ext cx="2542032" cy="329184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40280"/>
            <a:ext cx="2176272" cy="2834640"/>
          </a:xfrm>
          <a:prstGeom prst="rect">
            <a:avLst/>
          </a:prstGeom>
          <a:noFill/>
        </p:spPr>
        <p:txBody>
          <a:bodyPr wrap="square" lIns="0" tIns="0" rIns="0" bIns="0">
            <a:spAutoFit/>
          </a:bodyPr>
          <a:lstStyle/>
          <a:p>
            <a:pPr>
              <a:defRPr sz="1100" b="1">
                <a:solidFill>
                  <a:srgbClr val="00E599"/>
                </a:solidFill>
              </a:defRPr>
            </a:pPr>
            <a:r>
              <a:t>1. GENUINE AI VISION</a:t>
            </a:r>
          </a:p>
          <a:p>
            <a:pPr>
              <a:spcBef>
                <a:spcPts val="800"/>
              </a:spcBef>
              <a:defRPr sz="950">
                <a:solidFill>
                  <a:srgbClr val="94A3B8"/>
                </a:solidFill>
              </a:defRPr>
            </a:pPr>
            <a:r>
              <a:t>Not mocked or simulated. Local YOLO11n running live WebRTC inference with normalized bounding boxes, actual confidence scores, and Person non-waste filtering.</a:t>
            </a:r>
          </a:p>
        </p:txBody>
      </p:sp>
      <p:sp>
        <p:nvSpPr>
          <p:cNvPr id="6" name="Rounded Rectangle 5"/>
          <p:cNvSpPr/>
          <p:nvPr/>
        </p:nvSpPr>
        <p:spPr>
          <a:xfrm>
            <a:off x="3456432" y="2011680"/>
            <a:ext cx="2542032" cy="329184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9312" y="2240280"/>
            <a:ext cx="2176272" cy="2834640"/>
          </a:xfrm>
          <a:prstGeom prst="rect">
            <a:avLst/>
          </a:prstGeom>
          <a:noFill/>
        </p:spPr>
        <p:txBody>
          <a:bodyPr wrap="square" lIns="0" tIns="0" rIns="0" bIns="0">
            <a:spAutoFit/>
          </a:bodyPr>
          <a:lstStyle/>
          <a:p>
            <a:pPr>
              <a:defRPr sz="1100" b="1">
                <a:solidFill>
                  <a:srgbClr val="38BDF8"/>
                </a:solidFill>
              </a:defRPr>
            </a:pPr>
            <a:r>
              <a:t>2. ACTIONABLE TWIN</a:t>
            </a:r>
          </a:p>
          <a:p>
            <a:pPr>
              <a:spcBef>
                <a:spcPts val="800"/>
              </a:spcBef>
              <a:defRPr sz="950">
                <a:solidFill>
                  <a:srgbClr val="94A3B8"/>
                </a:solidFill>
              </a:defRPr>
            </a:pPr>
            <a:r>
              <a:t>Real spatial campus topology displaying 6 connected nodes with volumetric fill levels, sensor battery health, and automated truck dispatch queues.</a:t>
            </a:r>
          </a:p>
        </p:txBody>
      </p:sp>
      <p:sp>
        <p:nvSpPr>
          <p:cNvPr id="8" name="Rounded Rectangle 7"/>
          <p:cNvSpPr/>
          <p:nvPr/>
        </p:nvSpPr>
        <p:spPr>
          <a:xfrm>
            <a:off x="6181344" y="2011680"/>
            <a:ext cx="2542032" cy="329184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4224" y="2240280"/>
            <a:ext cx="2176272" cy="2834640"/>
          </a:xfrm>
          <a:prstGeom prst="rect">
            <a:avLst/>
          </a:prstGeom>
          <a:noFill/>
        </p:spPr>
        <p:txBody>
          <a:bodyPr wrap="square" lIns="0" tIns="0" rIns="0" bIns="0">
            <a:spAutoFit/>
          </a:bodyPr>
          <a:lstStyle/>
          <a:p>
            <a:pPr>
              <a:defRPr sz="1100" b="1">
                <a:solidFill>
                  <a:srgbClr val="00E599"/>
                </a:solidFill>
              </a:defRPr>
            </a:pPr>
            <a:r>
              <a:t>3. AUDITABLE DATA</a:t>
            </a:r>
          </a:p>
          <a:p>
            <a:pPr>
              <a:spcBef>
                <a:spcPts val="800"/>
              </a:spcBef>
              <a:defRPr sz="950">
                <a:solidFill>
                  <a:srgbClr val="94A3B8"/>
                </a:solidFill>
              </a:defRPr>
            </a:pPr>
            <a:r>
              <a:t>Every scan persisted in SQLite with unique hashes and EPA carbon factors, exportable via 1-click RFC-4180 CSV for municipal compliance.</a:t>
            </a:r>
          </a:p>
        </p:txBody>
      </p:sp>
      <p:sp>
        <p:nvSpPr>
          <p:cNvPr id="10" name="Rounded Rectangle 9"/>
          <p:cNvSpPr/>
          <p:nvPr/>
        </p:nvSpPr>
        <p:spPr>
          <a:xfrm>
            <a:off x="8906256" y="2011680"/>
            <a:ext cx="2542032" cy="329184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2240280"/>
            <a:ext cx="2176272" cy="2834640"/>
          </a:xfrm>
          <a:prstGeom prst="rect">
            <a:avLst/>
          </a:prstGeom>
          <a:noFill/>
        </p:spPr>
        <p:txBody>
          <a:bodyPr wrap="square" lIns="0" tIns="0" rIns="0" bIns="0">
            <a:spAutoFit/>
          </a:bodyPr>
          <a:lstStyle/>
          <a:p>
            <a:pPr>
              <a:defRPr sz="1100" b="1">
                <a:solidFill>
                  <a:srgbClr val="F97316"/>
                </a:solidFill>
              </a:defRPr>
            </a:pPr>
            <a:r>
              <a:t>4. PRODUCTION READY</a:t>
            </a:r>
          </a:p>
          <a:p>
            <a:pPr>
              <a:spcBef>
                <a:spcPts val="800"/>
              </a:spcBef>
              <a:defRPr sz="950">
                <a:solidFill>
                  <a:srgbClr val="94A3B8"/>
                </a:solidFill>
              </a:defRPr>
            </a:pPr>
            <a:r>
              <a:t>24 automated unit tests passing, zero cloud API fees, deployed live on Render and running right now on local host 5000.</a:t>
            </a:r>
          </a:p>
        </p:txBody>
      </p:sp>
      <p:sp>
        <p:nvSpPr>
          <p:cNvPr id="12" name="Rounded Rectangle 11"/>
          <p:cNvSpPr/>
          <p:nvPr/>
        </p:nvSpPr>
        <p:spPr>
          <a:xfrm>
            <a:off x="731520" y="5486400"/>
            <a:ext cx="10728655" cy="868680"/>
          </a:xfrm>
          <a:prstGeom prst="roundRect">
            <a:avLst/>
          </a:prstGeom>
          <a:solidFill>
            <a:srgbClr val="0E1813"/>
          </a:solidFill>
          <a:ln w="19050">
            <a:solidFill>
              <a:srgbClr val="192D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77840"/>
            <a:ext cx="10362895" cy="685800"/>
          </a:xfrm>
          <a:prstGeom prst="rect">
            <a:avLst/>
          </a:prstGeom>
          <a:noFill/>
        </p:spPr>
        <p:txBody>
          <a:bodyPr wrap="square" lIns="0" tIns="0" rIns="0" bIns="0">
            <a:spAutoFit/>
          </a:bodyPr>
          <a:lstStyle/>
          <a:p>
            <a:pPr>
              <a:defRPr sz="1100" b="1">
                <a:solidFill>
                  <a:srgbClr val="F8FAFC"/>
                </a:solidFill>
              </a:defRPr>
            </a:pPr>
            <a:r>
              <a:t>TEAM: WE ARE THE BUGS   |   LIVE REPOSITORY: github.com/we-are-the-bugs/ecosync   |   APP: http://127.0.0.1:5000</a:t>
            </a:r>
          </a:p>
          <a:p>
            <a:pPr>
              <a:spcBef>
                <a:spcPts val="300"/>
              </a:spcBef>
              <a:defRPr sz="1000">
                <a:solidFill>
                  <a:srgbClr val="00E599"/>
                </a:solidFill>
              </a:defRPr>
            </a:pPr>
            <a:r>
              <a:t>Thank you judges. We are now eager to transition into the live system demonstration and answer your questions.</a:t>
            </a:r>
          </a:p>
        </p:txBody>
      </p:sp>
      <p:sp>
        <p:nvSpPr>
          <p:cNvPr id="14" name="TextBox 13"/>
          <p:cNvSpPr txBox="1"/>
          <p:nvPr/>
        </p:nvSpPr>
        <p:spPr>
          <a:xfrm>
            <a:off x="731520" y="6446520"/>
            <a:ext cx="10728655" cy="274320"/>
          </a:xfrm>
          <a:prstGeom prst="rect">
            <a:avLst/>
          </a:prstGeom>
          <a:noFill/>
        </p:spPr>
        <p:txBody>
          <a:bodyPr wrap="square" lIns="0" tIns="0" rIns="0" bIns="0">
            <a:spAutoFit/>
          </a:bodyPr>
          <a:lstStyle/>
          <a:p>
            <a:pPr>
              <a:defRPr sz="900" b="1">
                <a:solidFill>
                  <a:srgbClr val="64748B"/>
                </a:solidFill>
                <a:latin typeface="Arial"/>
              </a:defRPr>
            </a:pPr>
            <a:r>
              <a:t>ECOSYNC // SMART WASTE MANAGEMENT &amp; DIGITAL TWIN   |   TEAM: WE ARE THE BUGS   |   SLIDE 13 OF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